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0" r:id="rId1"/>
  </p:sldMasterIdLst>
  <p:notesMasterIdLst>
    <p:notesMasterId r:id="rId29"/>
  </p:notesMasterIdLst>
  <p:sldIdLst>
    <p:sldId id="289" r:id="rId2"/>
    <p:sldId id="287" r:id="rId3"/>
    <p:sldId id="288"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85" r:id="rId20"/>
    <p:sldId id="286" r:id="rId21"/>
    <p:sldId id="271" r:id="rId22"/>
    <p:sldId id="276" r:id="rId23"/>
    <p:sldId id="280" r:id="rId24"/>
    <p:sldId id="281" r:id="rId25"/>
    <p:sldId id="282" r:id="rId26"/>
    <p:sldId id="283" r:id="rId27"/>
    <p:sldId id="284" r:id="rId28"/>
  </p:sldIdLst>
  <p:sldSz cx="9144000" cy="5149850"/>
  <p:notesSz cx="9144000" cy="5149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46338"/>
            <a:ext cx="7315200" cy="23177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91088"/>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91088"/>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3: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4: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1: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5: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2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6: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7: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2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8: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2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9:notes"/>
          <p:cNvSpPr txBox="1">
            <a:spLocks noGrp="1"/>
          </p:cNvSpPr>
          <p:nvPr>
            <p:ph type="body" idx="1"/>
          </p:nvPr>
        </p:nvSpPr>
        <p:spPr>
          <a:xfrm>
            <a:off x="914400" y="2446338"/>
            <a:ext cx="7315200" cy="23177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2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8C54B-4535-14F3-847B-8819ADBD294E}"/>
              </a:ext>
            </a:extLst>
          </p:cNvPr>
          <p:cNvSpPr>
            <a:spLocks noGrp="1"/>
          </p:cNvSpPr>
          <p:nvPr>
            <p:ph type="ctrTitle"/>
          </p:nvPr>
        </p:nvSpPr>
        <p:spPr>
          <a:xfrm>
            <a:off x="1143000" y="842811"/>
            <a:ext cx="6858000" cy="1792911"/>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01C3FB5-BF71-8726-1219-B4EB7345701D}"/>
              </a:ext>
            </a:extLst>
          </p:cNvPr>
          <p:cNvSpPr>
            <a:spLocks noGrp="1"/>
          </p:cNvSpPr>
          <p:nvPr>
            <p:ph type="subTitle" idx="1"/>
          </p:nvPr>
        </p:nvSpPr>
        <p:spPr>
          <a:xfrm>
            <a:off x="1143000" y="2704864"/>
            <a:ext cx="6858000" cy="124335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0661FA-B736-C401-3453-078D79909DE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F94D048-43A1-E84B-3AD8-6C25744882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520173-DB0D-6C56-4885-527C13AC883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0887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29B1-AA86-76B7-1E1D-0427E2EACF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8EA786-26CA-47F8-7451-1320364934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A6A32-CAE4-1DE2-6DD8-E989072DC19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2DD98D3-60D4-0CE6-F7C9-83E69AAE51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14D185-5039-EF87-DF49-8EC6F22EB9D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551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90F12-7775-7921-D4F4-035E11FE0CDB}"/>
              </a:ext>
            </a:extLst>
          </p:cNvPr>
          <p:cNvSpPr>
            <a:spLocks noGrp="1"/>
          </p:cNvSpPr>
          <p:nvPr>
            <p:ph type="title"/>
          </p:nvPr>
        </p:nvSpPr>
        <p:spPr>
          <a:xfrm>
            <a:off x="623888" y="1283887"/>
            <a:ext cx="7886700" cy="2142194"/>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D4E7E9-3E10-2F14-7846-7D5274D2C688}"/>
              </a:ext>
            </a:extLst>
          </p:cNvPr>
          <p:cNvSpPr>
            <a:spLocks noGrp="1"/>
          </p:cNvSpPr>
          <p:nvPr>
            <p:ph type="body" idx="1"/>
          </p:nvPr>
        </p:nvSpPr>
        <p:spPr>
          <a:xfrm>
            <a:off x="623888" y="3446347"/>
            <a:ext cx="7886700" cy="112652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C69539-429A-B523-4464-5D55B59DE10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D847BFF-3E64-D12E-F4CA-92579F4657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F9BEAF-CEC0-EB6B-DCEB-20AF504A824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055638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A02C4-AD66-CD85-6147-0EEE4593A0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B79CB1-34F9-07AD-42D1-FB77452F1A2A}"/>
              </a:ext>
            </a:extLst>
          </p:cNvPr>
          <p:cNvSpPr>
            <a:spLocks noGrp="1"/>
          </p:cNvSpPr>
          <p:nvPr>
            <p:ph sz="half" idx="1"/>
          </p:nvPr>
        </p:nvSpPr>
        <p:spPr>
          <a:xfrm>
            <a:off x="628650" y="1370909"/>
            <a:ext cx="3886200" cy="32675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4C2BD3-76F5-8E23-0328-31B2B39093FC}"/>
              </a:ext>
            </a:extLst>
          </p:cNvPr>
          <p:cNvSpPr>
            <a:spLocks noGrp="1"/>
          </p:cNvSpPr>
          <p:nvPr>
            <p:ph sz="half" idx="2"/>
          </p:nvPr>
        </p:nvSpPr>
        <p:spPr>
          <a:xfrm>
            <a:off x="4629150" y="1370909"/>
            <a:ext cx="3886200" cy="32675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C24746-1DA8-F6FB-6991-F17E4A85076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0993D32-7A66-CE34-9254-C1A68720BF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EC3C2E-CFE4-807F-F8DC-6E07E0A94F1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0517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97642-38FB-0430-BA5F-C337150EA896}"/>
              </a:ext>
            </a:extLst>
          </p:cNvPr>
          <p:cNvSpPr>
            <a:spLocks noGrp="1"/>
          </p:cNvSpPr>
          <p:nvPr>
            <p:ph type="title"/>
          </p:nvPr>
        </p:nvSpPr>
        <p:spPr>
          <a:xfrm>
            <a:off x="629841" y="274182"/>
            <a:ext cx="7886700" cy="9954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8CD7BA-FE68-D29C-ACE4-768C9226FD9A}"/>
              </a:ext>
            </a:extLst>
          </p:cNvPr>
          <p:cNvSpPr>
            <a:spLocks noGrp="1"/>
          </p:cNvSpPr>
          <p:nvPr>
            <p:ph type="body" idx="1"/>
          </p:nvPr>
        </p:nvSpPr>
        <p:spPr>
          <a:xfrm>
            <a:off x="629842" y="1262429"/>
            <a:ext cx="3868340" cy="61869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C0C66CA-C837-C329-A466-02CCA908A254}"/>
              </a:ext>
            </a:extLst>
          </p:cNvPr>
          <p:cNvSpPr>
            <a:spLocks noGrp="1"/>
          </p:cNvSpPr>
          <p:nvPr>
            <p:ph sz="half" idx="2"/>
          </p:nvPr>
        </p:nvSpPr>
        <p:spPr>
          <a:xfrm>
            <a:off x="629842" y="1881126"/>
            <a:ext cx="3868340" cy="276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FBA233-3E97-7556-E676-F7735FE6FDDA}"/>
              </a:ext>
            </a:extLst>
          </p:cNvPr>
          <p:cNvSpPr>
            <a:spLocks noGrp="1"/>
          </p:cNvSpPr>
          <p:nvPr>
            <p:ph type="body" sz="quarter" idx="3"/>
          </p:nvPr>
        </p:nvSpPr>
        <p:spPr>
          <a:xfrm>
            <a:off x="4629150" y="1262429"/>
            <a:ext cx="3887391" cy="61869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6268091-A22B-BA9D-9075-5BEB685E6F3F}"/>
              </a:ext>
            </a:extLst>
          </p:cNvPr>
          <p:cNvSpPr>
            <a:spLocks noGrp="1"/>
          </p:cNvSpPr>
          <p:nvPr>
            <p:ph sz="quarter" idx="4"/>
          </p:nvPr>
        </p:nvSpPr>
        <p:spPr>
          <a:xfrm>
            <a:off x="4629150" y="1881126"/>
            <a:ext cx="3887391" cy="276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A7673C-D760-0003-E0EB-1AE50134FD86}"/>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C20DCFE2-35A1-AF69-01C0-DC4CABCC27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D28DE2-9196-7DDB-BE04-9682C843296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3899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6F43E-7186-E64D-BCF6-96CD65E8B7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DC6639-C3A5-457A-A976-66A9577A959E}"/>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02FBFEAC-F8D5-C269-CDA9-510C0592DF1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EE6D0B0-90FE-AC52-1E7F-64ED80831E5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69334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38F6BE-A107-BBA4-CD40-9A210A5F6878}"/>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C222D8E7-0DA3-724E-9295-B989BC147BD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C75780-1040-2D9B-ABFB-219E66B61DE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29832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61178-AFE7-E13D-AE2D-F3A92AE677A6}"/>
              </a:ext>
            </a:extLst>
          </p:cNvPr>
          <p:cNvSpPr>
            <a:spLocks noGrp="1"/>
          </p:cNvSpPr>
          <p:nvPr>
            <p:ph type="title"/>
          </p:nvPr>
        </p:nvSpPr>
        <p:spPr>
          <a:xfrm>
            <a:off x="629841" y="343323"/>
            <a:ext cx="2949178" cy="1201632"/>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7BF929-4653-DEDB-015C-D2E97CC64763}"/>
              </a:ext>
            </a:extLst>
          </p:cNvPr>
          <p:cNvSpPr>
            <a:spLocks noGrp="1"/>
          </p:cNvSpPr>
          <p:nvPr>
            <p:ph idx="1"/>
          </p:nvPr>
        </p:nvSpPr>
        <p:spPr>
          <a:xfrm>
            <a:off x="3887391" y="741484"/>
            <a:ext cx="4629150" cy="365973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83113C-3804-0B10-1386-27E38A6931A4}"/>
              </a:ext>
            </a:extLst>
          </p:cNvPr>
          <p:cNvSpPr>
            <a:spLocks noGrp="1"/>
          </p:cNvSpPr>
          <p:nvPr>
            <p:ph type="body" sz="half" idx="2"/>
          </p:nvPr>
        </p:nvSpPr>
        <p:spPr>
          <a:xfrm>
            <a:off x="629841" y="1544955"/>
            <a:ext cx="2949178" cy="286222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67EBBEE-3E9C-6907-A820-EECC25B95F1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D246A4F0-741E-CB1A-DCF5-87F2A826ED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305B5F-7950-235E-C9CC-1258B54A7CE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77564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8AB04-F11F-1A70-D235-C77BF806FBF4}"/>
              </a:ext>
            </a:extLst>
          </p:cNvPr>
          <p:cNvSpPr>
            <a:spLocks noGrp="1"/>
          </p:cNvSpPr>
          <p:nvPr>
            <p:ph type="title"/>
          </p:nvPr>
        </p:nvSpPr>
        <p:spPr>
          <a:xfrm>
            <a:off x="629841" y="343323"/>
            <a:ext cx="2949178" cy="1201632"/>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0734C3-09EB-9EB3-CBAB-4D2B5A77794F}"/>
              </a:ext>
            </a:extLst>
          </p:cNvPr>
          <p:cNvSpPr>
            <a:spLocks noGrp="1"/>
          </p:cNvSpPr>
          <p:nvPr>
            <p:ph type="pic" idx="1"/>
          </p:nvPr>
        </p:nvSpPr>
        <p:spPr>
          <a:xfrm>
            <a:off x="3887391" y="741484"/>
            <a:ext cx="4629150" cy="3659731"/>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E1476C31-867F-04D0-2283-C698B0F85FBE}"/>
              </a:ext>
            </a:extLst>
          </p:cNvPr>
          <p:cNvSpPr>
            <a:spLocks noGrp="1"/>
          </p:cNvSpPr>
          <p:nvPr>
            <p:ph type="body" sz="half" idx="2"/>
          </p:nvPr>
        </p:nvSpPr>
        <p:spPr>
          <a:xfrm>
            <a:off x="629841" y="1544955"/>
            <a:ext cx="2949178" cy="286222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B0C5A47-7E17-F1E3-A45D-35D29F259CB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B90D49A-B99B-A001-C658-F11A054867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08B6E1-6C27-9733-96CD-8FC7FF30733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8546090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7A205-00EE-FAA6-6209-8BD70F3DE5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EC4E32-10E8-C057-69C6-4854FFCF05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9265F2-371B-E70B-E0F7-684BEFB45ED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4D26512-FEE4-51F1-E97D-55549E26C1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8FAFF4-2B82-E9E0-CF31-47D0C75C8D1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54958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CE6CDC-B9B9-ED3F-144E-BABF793822CF}"/>
              </a:ext>
            </a:extLst>
          </p:cNvPr>
          <p:cNvSpPr>
            <a:spLocks noGrp="1"/>
          </p:cNvSpPr>
          <p:nvPr>
            <p:ph type="title" orient="vert"/>
          </p:nvPr>
        </p:nvSpPr>
        <p:spPr>
          <a:xfrm>
            <a:off x="6543675" y="274182"/>
            <a:ext cx="1971675" cy="4364260"/>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642245-B6D8-14E3-4885-A157BEA759BD}"/>
              </a:ext>
            </a:extLst>
          </p:cNvPr>
          <p:cNvSpPr>
            <a:spLocks noGrp="1"/>
          </p:cNvSpPr>
          <p:nvPr>
            <p:ph type="body" orient="vert" idx="1"/>
          </p:nvPr>
        </p:nvSpPr>
        <p:spPr>
          <a:xfrm>
            <a:off x="628650" y="274182"/>
            <a:ext cx="5800725" cy="43642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E93853-9EEC-1D72-3ACA-D2612F4C7DF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C157683-129D-7622-197F-495FF798D3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42DC91-B3DE-6498-6AD8-2EF7E2ED32F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45986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B93D4F-CDE8-C6E7-B988-0AED5E7BB369}"/>
              </a:ext>
            </a:extLst>
          </p:cNvPr>
          <p:cNvSpPr>
            <a:spLocks noGrp="1"/>
          </p:cNvSpPr>
          <p:nvPr>
            <p:ph type="title"/>
          </p:nvPr>
        </p:nvSpPr>
        <p:spPr>
          <a:xfrm>
            <a:off x="628650" y="274182"/>
            <a:ext cx="7886700" cy="9954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835E60-8690-33E1-E659-ECFE06181255}"/>
              </a:ext>
            </a:extLst>
          </p:cNvPr>
          <p:cNvSpPr>
            <a:spLocks noGrp="1"/>
          </p:cNvSpPr>
          <p:nvPr>
            <p:ph type="body" idx="1"/>
          </p:nvPr>
        </p:nvSpPr>
        <p:spPr>
          <a:xfrm>
            <a:off x="628650" y="1370909"/>
            <a:ext cx="7886700" cy="32675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724187-7612-45CC-5623-493EC37E9B78}"/>
              </a:ext>
            </a:extLst>
          </p:cNvPr>
          <p:cNvSpPr>
            <a:spLocks noGrp="1"/>
          </p:cNvSpPr>
          <p:nvPr>
            <p:ph type="dt" sz="half" idx="2"/>
          </p:nvPr>
        </p:nvSpPr>
        <p:spPr>
          <a:xfrm>
            <a:off x="628650" y="4773148"/>
            <a:ext cx="2057400" cy="274182"/>
          </a:xfrm>
          <a:prstGeom prst="rect">
            <a:avLst/>
          </a:prstGeom>
        </p:spPr>
        <p:txBody>
          <a:bodyPr vert="horz" lIns="91440" tIns="45720" rIns="91440" bIns="45720" rtlCol="0" anchor="ctr"/>
          <a:lstStyle>
            <a:lvl1pPr algn="l">
              <a:defRPr sz="9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B1464A8D-3CBA-6495-7D3E-D563806EC5F6}"/>
              </a:ext>
            </a:extLst>
          </p:cNvPr>
          <p:cNvSpPr>
            <a:spLocks noGrp="1"/>
          </p:cNvSpPr>
          <p:nvPr>
            <p:ph type="ftr" sz="quarter" idx="3"/>
          </p:nvPr>
        </p:nvSpPr>
        <p:spPr>
          <a:xfrm>
            <a:off x="3028950" y="4773148"/>
            <a:ext cx="3086100" cy="274182"/>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FEC0E0D-2579-40D7-60F6-77FD465EB153}"/>
              </a:ext>
            </a:extLst>
          </p:cNvPr>
          <p:cNvSpPr>
            <a:spLocks noGrp="1"/>
          </p:cNvSpPr>
          <p:nvPr>
            <p:ph type="sldNum" sz="quarter" idx="4"/>
          </p:nvPr>
        </p:nvSpPr>
        <p:spPr>
          <a:xfrm>
            <a:off x="6457950" y="4773148"/>
            <a:ext cx="2057400" cy="274182"/>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descr="File:C-DAC LogoTransp.png - Wikipedia">
            <a:extLst>
              <a:ext uri="{FF2B5EF4-FFF2-40B4-BE49-F238E27FC236}">
                <a16:creationId xmlns:a16="http://schemas.microsoft.com/office/drawing/2014/main" id="{85920FF6-52F0-233F-DEF5-79C7E01D02B7}"/>
              </a:ext>
            </a:extLst>
          </p:cNvPr>
          <p:cNvPicPr/>
          <p:nvPr userDrawn="1"/>
        </p:nvPicPr>
        <p:blipFill>
          <a:blip r:embed="rId13"/>
          <a:srcRect/>
          <a:stretch>
            <a:fillRect/>
          </a:stretch>
        </p:blipFill>
        <p:spPr bwMode="auto">
          <a:xfrm>
            <a:off x="7508765" y="33381"/>
            <a:ext cx="1388012" cy="759656"/>
          </a:xfrm>
          <a:prstGeom prst="rect">
            <a:avLst/>
          </a:prstGeom>
          <a:noFill/>
          <a:ln w="9525">
            <a:noFill/>
            <a:miter lim="800000"/>
            <a:headEnd/>
            <a:tailEnd/>
          </a:ln>
        </p:spPr>
      </p:pic>
    </p:spTree>
    <p:extLst>
      <p:ext uri="{BB962C8B-B14F-4D97-AF65-F5344CB8AC3E}">
        <p14:creationId xmlns:p14="http://schemas.microsoft.com/office/powerpoint/2010/main" val="1214617770"/>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9016A-D96F-F054-DAE2-AA72BF803729}"/>
              </a:ext>
            </a:extLst>
          </p:cNvPr>
          <p:cNvSpPr>
            <a:spLocks noGrp="1"/>
          </p:cNvSpPr>
          <p:nvPr>
            <p:ph type="ctrTitle"/>
          </p:nvPr>
        </p:nvSpPr>
        <p:spPr/>
        <p:txBody>
          <a:bodyPr/>
          <a:lstStyle/>
          <a:p>
            <a:r>
              <a:rPr lang="en-US" dirty="0"/>
              <a:t>DEVOPS ENGINEERING</a:t>
            </a:r>
            <a:endParaRPr lang="en-IN" dirty="0"/>
          </a:p>
        </p:txBody>
      </p:sp>
    </p:spTree>
    <p:extLst>
      <p:ext uri="{BB962C8B-B14F-4D97-AF65-F5344CB8AC3E}">
        <p14:creationId xmlns:p14="http://schemas.microsoft.com/office/powerpoint/2010/main" val="2282435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3C00C1-A320-78BD-F469-BB3DE3BB76EA}"/>
              </a:ext>
            </a:extLst>
          </p:cNvPr>
          <p:cNvPicPr>
            <a:picLocks noChangeAspect="1"/>
          </p:cNvPicPr>
          <p:nvPr/>
        </p:nvPicPr>
        <p:blipFill>
          <a:blip r:embed="rId2"/>
          <a:stretch>
            <a:fillRect/>
          </a:stretch>
        </p:blipFill>
        <p:spPr>
          <a:xfrm>
            <a:off x="332149" y="809771"/>
            <a:ext cx="7146338" cy="4340077"/>
          </a:xfrm>
          <a:prstGeom prst="rect">
            <a:avLst/>
          </a:prstGeom>
        </p:spPr>
      </p:pic>
    </p:spTree>
    <p:extLst>
      <p:ext uri="{BB962C8B-B14F-4D97-AF65-F5344CB8AC3E}">
        <p14:creationId xmlns:p14="http://schemas.microsoft.com/office/powerpoint/2010/main" val="3051825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ifferent Phases of the DevOps Lifecycle">
            <a:extLst>
              <a:ext uri="{FF2B5EF4-FFF2-40B4-BE49-F238E27FC236}">
                <a16:creationId xmlns:a16="http://schemas.microsoft.com/office/drawing/2014/main" id="{4FB4EBCA-F9C2-2D9C-7F8E-86D6CE7FE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7638"/>
            <a:ext cx="9144000" cy="4852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513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DEVOPS---DOCKER</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2558551" y="178723"/>
            <a:ext cx="4416712" cy="686257"/>
          </a:xfrm>
          <a:prstGeom prst="rect">
            <a:avLst/>
          </a:prstGeom>
          <a:noFill/>
          <a:ln>
            <a:noFill/>
          </a:ln>
        </p:spPr>
        <p:txBody>
          <a:bodyPr spcFirstLastPara="1" wrap="square" lIns="0" tIns="9050" rIns="0" bIns="0" anchor="ctr" anchorCtr="0">
            <a:spAutoFit/>
          </a:bodyPr>
          <a:lstStyle/>
          <a:p>
            <a:pPr marL="9536" lvl="0" indent="0" algn="ctr" rtl="0">
              <a:spcBef>
                <a:spcPts val="0"/>
              </a:spcBef>
              <a:spcAft>
                <a:spcPts val="0"/>
              </a:spcAft>
              <a:buClr>
                <a:schemeClr val="dk1"/>
              </a:buClr>
              <a:buSzPts val="4400"/>
              <a:buFont typeface="Calibri"/>
              <a:buNone/>
            </a:pPr>
            <a:r>
              <a:rPr lang="en-US"/>
              <a:t>Docker containers</a:t>
            </a:r>
            <a:endParaRPr/>
          </a:p>
        </p:txBody>
      </p:sp>
      <p:sp>
        <p:nvSpPr>
          <p:cNvPr id="95" name="Google Shape;95;p14"/>
          <p:cNvSpPr/>
          <p:nvPr/>
        </p:nvSpPr>
        <p:spPr>
          <a:xfrm>
            <a:off x="2311215" y="1201632"/>
            <a:ext cx="4515696" cy="339106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352">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pic>
        <p:nvPicPr>
          <p:cNvPr id="101" name="Google Shape;101;p15"/>
          <p:cNvPicPr preferRelativeResize="0"/>
          <p:nvPr/>
        </p:nvPicPr>
        <p:blipFill rotWithShape="1">
          <a:blip r:embed="rId3">
            <a:alphaModFix/>
          </a:blip>
          <a:srcRect/>
          <a:stretch/>
        </p:blipFill>
        <p:spPr>
          <a:xfrm>
            <a:off x="1750312" y="228882"/>
            <a:ext cx="5643377" cy="422359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6" descr="Docker vs Virtualization"/>
          <p:cNvPicPr preferRelativeResize="0"/>
          <p:nvPr/>
        </p:nvPicPr>
        <p:blipFill rotWithShape="1">
          <a:blip r:embed="rId3">
            <a:alphaModFix/>
          </a:blip>
          <a:srcRect/>
          <a:stretch/>
        </p:blipFill>
        <p:spPr>
          <a:xfrm>
            <a:off x="1825413" y="1773838"/>
            <a:ext cx="4763611" cy="182390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11684" y="197611"/>
            <a:ext cx="664845" cy="2997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FFFFFF"/>
              </a:buClr>
              <a:buSzPts val="1800"/>
              <a:buFont typeface="Calibri"/>
              <a:buNone/>
            </a:pPr>
            <a:r>
              <a:rPr lang="en-US" sz="1800">
                <a:solidFill>
                  <a:srgbClr val="FFFFFF"/>
                </a:solidFill>
              </a:rPr>
              <a:t>Docker</a:t>
            </a:r>
            <a:endParaRPr sz="1800"/>
          </a:p>
        </p:txBody>
      </p:sp>
      <p:sp>
        <p:nvSpPr>
          <p:cNvPr id="112" name="Google Shape;112;p17"/>
          <p:cNvSpPr txBox="1"/>
          <p:nvPr/>
        </p:nvSpPr>
        <p:spPr>
          <a:xfrm>
            <a:off x="293624" y="616432"/>
            <a:ext cx="6359525" cy="4342214"/>
          </a:xfrm>
          <a:prstGeom prst="rect">
            <a:avLst/>
          </a:prstGeom>
          <a:noFill/>
          <a:ln>
            <a:noFill/>
          </a:ln>
        </p:spPr>
        <p:txBody>
          <a:bodyPr spcFirstLastPara="1" wrap="square" lIns="0" tIns="114300" rIns="0" bIns="0" anchor="t" anchorCtr="0">
            <a:spAutoFit/>
          </a:bodyPr>
          <a:lstStyle/>
          <a:p>
            <a:pPr marL="356870" marR="0" lvl="0" indent="-344805" algn="l" rtl="0">
              <a:lnSpc>
                <a:spcPct val="100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Docker is a very light-weight software container and containerization platform</a:t>
            </a:r>
            <a:endParaRPr sz="1600">
              <a:solidFill>
                <a:schemeClr val="dk1"/>
              </a:solidFill>
              <a:latin typeface="Calibri"/>
              <a:ea typeface="Calibri"/>
              <a:cs typeface="Calibri"/>
              <a:sym typeface="Calibri"/>
            </a:endParaRPr>
          </a:p>
          <a:p>
            <a:pPr marL="356870" marR="0" lvl="0" indent="-344805" algn="l" rtl="0">
              <a:lnSpc>
                <a:spcPct val="100000"/>
              </a:lnSpc>
              <a:spcBef>
                <a:spcPts val="805"/>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Docker containers provide a way to run software in isolation</a:t>
            </a:r>
            <a:endParaRPr sz="1600">
              <a:solidFill>
                <a:schemeClr val="dk1"/>
              </a:solidFill>
              <a:latin typeface="Calibri"/>
              <a:ea typeface="Calibri"/>
              <a:cs typeface="Calibri"/>
              <a:sym typeface="Calibri"/>
            </a:endParaRPr>
          </a:p>
          <a:p>
            <a:pPr marL="356870" marR="0" lvl="0" indent="-344805" algn="l" rtl="0">
              <a:lnSpc>
                <a:spcPct val="100000"/>
              </a:lnSpc>
              <a:spcBef>
                <a:spcPts val="805"/>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What does a Docker Container contain and provide?</a:t>
            </a:r>
            <a:endParaRPr sz="1600">
              <a:solidFill>
                <a:schemeClr val="dk1"/>
              </a:solidFill>
              <a:latin typeface="Calibri"/>
              <a:ea typeface="Calibri"/>
              <a:cs typeface="Calibri"/>
              <a:sym typeface="Calibri"/>
            </a:endParaRPr>
          </a:p>
          <a:p>
            <a:pPr marL="980439" marR="0" lvl="1" indent="-343534" algn="l" rtl="0">
              <a:lnSpc>
                <a:spcPct val="100000"/>
              </a:lnSpc>
              <a:spcBef>
                <a:spcPts val="79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Initially – only a base Linux operating system</a:t>
            </a:r>
            <a:endParaRPr sz="1600" b="0" i="0" u="none" strike="noStrike" cap="none">
              <a:solidFill>
                <a:schemeClr val="dk1"/>
              </a:solidFill>
              <a:latin typeface="Calibri"/>
              <a:ea typeface="Calibri"/>
              <a:cs typeface="Calibri"/>
              <a:sym typeface="Calibri"/>
            </a:endParaRPr>
          </a:p>
          <a:p>
            <a:pPr marL="980439" marR="0" lvl="1" indent="-343534" algn="l" rtl="0">
              <a:lnSpc>
                <a:spcPct val="100000"/>
              </a:lnSpc>
              <a:spcBef>
                <a:spcPts val="8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 boundary or a “jail” to contain running software</a:t>
            </a:r>
            <a:endParaRPr sz="1600" b="0" i="0" u="none" strike="noStrike" cap="none">
              <a:solidFill>
                <a:schemeClr val="dk1"/>
              </a:solidFill>
              <a:latin typeface="Calibri"/>
              <a:ea typeface="Calibri"/>
              <a:cs typeface="Calibri"/>
              <a:sym typeface="Calibri"/>
            </a:endParaRPr>
          </a:p>
          <a:p>
            <a:pPr marL="980439" marR="0" lvl="1" indent="-343534" algn="l" rtl="0">
              <a:lnSpc>
                <a:spcPct val="100000"/>
              </a:lnSpc>
              <a:spcBef>
                <a:spcPts val="8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Like a good jail, there are no unauthorized entries or exits</a:t>
            </a:r>
            <a:endParaRPr sz="1600" b="0" i="0" u="none" strike="noStrike" cap="none">
              <a:solidFill>
                <a:schemeClr val="dk1"/>
              </a:solidFill>
              <a:latin typeface="Calibri"/>
              <a:ea typeface="Calibri"/>
              <a:cs typeface="Calibri"/>
              <a:sym typeface="Calibri"/>
            </a:endParaRPr>
          </a:p>
          <a:p>
            <a:pPr marL="980439" marR="0" lvl="1" indent="-343534" algn="l" rtl="0">
              <a:lnSpc>
                <a:spcPct val="100000"/>
              </a:lnSpc>
              <a:spcBef>
                <a:spcPts val="790"/>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 Docker Image is the foundation for any particular Docker container</a:t>
            </a:r>
            <a:endParaRPr sz="1600" b="0" i="0" u="none" strike="noStrike" cap="none">
              <a:solidFill>
                <a:schemeClr val="dk1"/>
              </a:solidFill>
              <a:latin typeface="Calibri"/>
              <a:ea typeface="Calibri"/>
              <a:cs typeface="Calibri"/>
              <a:sym typeface="Calibri"/>
            </a:endParaRPr>
          </a:p>
          <a:p>
            <a:pPr marL="356870" marR="0" lvl="0" indent="-344805" algn="l" rtl="0">
              <a:lnSpc>
                <a:spcPct val="100000"/>
              </a:lnSpc>
              <a:spcBef>
                <a:spcPts val="805"/>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What is outside of Docker?</a:t>
            </a:r>
            <a:endParaRPr sz="1600">
              <a:solidFill>
                <a:schemeClr val="dk1"/>
              </a:solidFill>
              <a:latin typeface="Calibri"/>
              <a:ea typeface="Calibri"/>
              <a:cs typeface="Calibri"/>
              <a:sym typeface="Calibri"/>
            </a:endParaRPr>
          </a:p>
          <a:p>
            <a:pPr marL="980439" marR="0" lvl="1" indent="-343534" algn="l" rtl="0">
              <a:lnSpc>
                <a:spcPct val="100000"/>
              </a:lnSpc>
              <a:spcBef>
                <a:spcPts val="8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Other Docker containers</a:t>
            </a:r>
            <a:endParaRPr sz="1600" b="0" i="0" u="none" strike="noStrike" cap="none">
              <a:solidFill>
                <a:schemeClr val="dk1"/>
              </a:solidFill>
              <a:latin typeface="Calibri"/>
              <a:ea typeface="Calibri"/>
              <a:cs typeface="Calibri"/>
              <a:sym typeface="Calibri"/>
            </a:endParaRPr>
          </a:p>
          <a:p>
            <a:pPr marL="980439" marR="0" lvl="1" indent="-343534" algn="l" rtl="0">
              <a:lnSpc>
                <a:spcPct val="100000"/>
              </a:lnSpc>
              <a:spcBef>
                <a:spcPts val="79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The operating system, kernel</a:t>
            </a:r>
            <a:endParaRPr sz="1600" b="0" i="0" u="none" strike="noStrike" cap="none">
              <a:solidFill>
                <a:schemeClr val="dk1"/>
              </a:solidFill>
              <a:latin typeface="Calibri"/>
              <a:ea typeface="Calibri"/>
              <a:cs typeface="Calibri"/>
              <a:sym typeface="Calibri"/>
            </a:endParaRPr>
          </a:p>
          <a:p>
            <a:pPr marL="980439" marR="0" lvl="1" indent="-343534" algn="l" rtl="0">
              <a:lnSpc>
                <a:spcPct val="100000"/>
              </a:lnSpc>
              <a:spcBef>
                <a:spcPts val="8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Any other operating software</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Docker</a:t>
            </a:r>
            <a:endParaRPr/>
          </a:p>
        </p:txBody>
      </p:sp>
      <p:sp>
        <p:nvSpPr>
          <p:cNvPr id="118" name="Google Shape;118;p1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1600"/>
              <a:buChar char="•"/>
            </a:pPr>
            <a:r>
              <a:rPr lang="en-US" sz="1600"/>
              <a:t>Docker is computer software used for Virtualization in order to have multiple Operating systems running on the same host. Unlike Hypervisors which are used for creating VM (Virtual machines), virtualization in Docker is performed on system-level in so-called Docker containers.</a:t>
            </a:r>
            <a:endParaRPr/>
          </a:p>
          <a:p>
            <a:pPr marL="342900" lvl="0" indent="-342900" algn="l" rtl="0">
              <a:spcBef>
                <a:spcPts val="320"/>
              </a:spcBef>
              <a:spcAft>
                <a:spcPts val="0"/>
              </a:spcAft>
              <a:buClr>
                <a:schemeClr val="dk1"/>
              </a:buClr>
              <a:buSzPts val="1600"/>
              <a:buChar char="•"/>
            </a:pPr>
            <a:r>
              <a:rPr lang="en-US" sz="1600"/>
              <a:t>Docker containers run on top of the host's Operation system. This helps you to improves efficiency. Moreover, we can run more containers on the same infrastructure than we can run Virtual machines because containers use fewer resources.</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p:nvPr/>
        </p:nvSpPr>
        <p:spPr>
          <a:xfrm>
            <a:off x="113792" y="197942"/>
            <a:ext cx="150114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Calibri"/>
                <a:ea typeface="Calibri"/>
                <a:cs typeface="Calibri"/>
                <a:sym typeface="Calibri"/>
              </a:rPr>
              <a:t>Docker for Linux</a:t>
            </a:r>
            <a:endParaRPr sz="1800">
              <a:solidFill>
                <a:schemeClr val="dk1"/>
              </a:solidFill>
              <a:latin typeface="Calibri"/>
              <a:ea typeface="Calibri"/>
              <a:cs typeface="Calibri"/>
              <a:sym typeface="Calibri"/>
            </a:endParaRPr>
          </a:p>
        </p:txBody>
      </p:sp>
      <p:sp>
        <p:nvSpPr>
          <p:cNvPr id="124" name="Google Shape;124;p19"/>
          <p:cNvSpPr/>
          <p:nvPr/>
        </p:nvSpPr>
        <p:spPr>
          <a:xfrm>
            <a:off x="1082039" y="792480"/>
            <a:ext cx="786765" cy="363220"/>
          </a:xfrm>
          <a:custGeom>
            <a:avLst/>
            <a:gdLst/>
            <a:ahLst/>
            <a:cxnLst/>
            <a:rect l="l" t="t" r="r" b="b"/>
            <a:pathLst>
              <a:path w="786764" h="363219" extrusionOk="0">
                <a:moveTo>
                  <a:pt x="605028" y="0"/>
                </a:moveTo>
                <a:lnTo>
                  <a:pt x="0" y="0"/>
                </a:lnTo>
                <a:lnTo>
                  <a:pt x="0" y="362712"/>
                </a:lnTo>
                <a:lnTo>
                  <a:pt x="605028" y="362712"/>
                </a:lnTo>
                <a:lnTo>
                  <a:pt x="786384" y="181355"/>
                </a:lnTo>
                <a:lnTo>
                  <a:pt x="605028"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19"/>
          <p:cNvSpPr/>
          <p:nvPr/>
        </p:nvSpPr>
        <p:spPr>
          <a:xfrm>
            <a:off x="1091183" y="1621536"/>
            <a:ext cx="786765" cy="363220"/>
          </a:xfrm>
          <a:custGeom>
            <a:avLst/>
            <a:gdLst/>
            <a:ahLst/>
            <a:cxnLst/>
            <a:rect l="l" t="t" r="r" b="b"/>
            <a:pathLst>
              <a:path w="786764" h="363219" extrusionOk="0">
                <a:moveTo>
                  <a:pt x="605028" y="0"/>
                </a:moveTo>
                <a:lnTo>
                  <a:pt x="0" y="0"/>
                </a:lnTo>
                <a:lnTo>
                  <a:pt x="0" y="362712"/>
                </a:lnTo>
                <a:lnTo>
                  <a:pt x="605028" y="362712"/>
                </a:lnTo>
                <a:lnTo>
                  <a:pt x="786384" y="181356"/>
                </a:lnTo>
                <a:lnTo>
                  <a:pt x="605028"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19"/>
          <p:cNvSpPr/>
          <p:nvPr/>
        </p:nvSpPr>
        <p:spPr>
          <a:xfrm>
            <a:off x="1100327" y="2450592"/>
            <a:ext cx="786765" cy="363220"/>
          </a:xfrm>
          <a:custGeom>
            <a:avLst/>
            <a:gdLst/>
            <a:ahLst/>
            <a:cxnLst/>
            <a:rect l="l" t="t" r="r" b="b"/>
            <a:pathLst>
              <a:path w="786764" h="363219" extrusionOk="0">
                <a:moveTo>
                  <a:pt x="605028" y="0"/>
                </a:moveTo>
                <a:lnTo>
                  <a:pt x="0" y="0"/>
                </a:lnTo>
                <a:lnTo>
                  <a:pt x="0" y="362712"/>
                </a:lnTo>
                <a:lnTo>
                  <a:pt x="605028" y="362712"/>
                </a:lnTo>
                <a:lnTo>
                  <a:pt x="786384" y="181356"/>
                </a:lnTo>
                <a:lnTo>
                  <a:pt x="605028"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19"/>
          <p:cNvSpPr/>
          <p:nvPr/>
        </p:nvSpPr>
        <p:spPr>
          <a:xfrm>
            <a:off x="1109472" y="3279648"/>
            <a:ext cx="786765" cy="363220"/>
          </a:xfrm>
          <a:custGeom>
            <a:avLst/>
            <a:gdLst/>
            <a:ahLst/>
            <a:cxnLst/>
            <a:rect l="l" t="t" r="r" b="b"/>
            <a:pathLst>
              <a:path w="786764" h="363220" extrusionOk="0">
                <a:moveTo>
                  <a:pt x="605028" y="0"/>
                </a:moveTo>
                <a:lnTo>
                  <a:pt x="0" y="0"/>
                </a:lnTo>
                <a:lnTo>
                  <a:pt x="0" y="362712"/>
                </a:lnTo>
                <a:lnTo>
                  <a:pt x="605028" y="362712"/>
                </a:lnTo>
                <a:lnTo>
                  <a:pt x="786384" y="181356"/>
                </a:lnTo>
                <a:lnTo>
                  <a:pt x="605028"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19"/>
          <p:cNvSpPr/>
          <p:nvPr/>
        </p:nvSpPr>
        <p:spPr>
          <a:xfrm>
            <a:off x="1118616" y="4108704"/>
            <a:ext cx="786765" cy="363220"/>
          </a:xfrm>
          <a:custGeom>
            <a:avLst/>
            <a:gdLst/>
            <a:ahLst/>
            <a:cxnLst/>
            <a:rect l="l" t="t" r="r" b="b"/>
            <a:pathLst>
              <a:path w="786764" h="363220" extrusionOk="0">
                <a:moveTo>
                  <a:pt x="605028" y="0"/>
                </a:moveTo>
                <a:lnTo>
                  <a:pt x="0" y="0"/>
                </a:lnTo>
                <a:lnTo>
                  <a:pt x="0" y="362711"/>
                </a:lnTo>
                <a:lnTo>
                  <a:pt x="605028" y="362711"/>
                </a:lnTo>
                <a:lnTo>
                  <a:pt x="786384" y="181355"/>
                </a:lnTo>
                <a:lnTo>
                  <a:pt x="605028"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 name="Google Shape;129;p19"/>
          <p:cNvSpPr txBox="1">
            <a:spLocks noGrp="1"/>
          </p:cNvSpPr>
          <p:nvPr>
            <p:ph type="title"/>
          </p:nvPr>
        </p:nvSpPr>
        <p:spPr>
          <a:xfrm>
            <a:off x="2612263" y="778510"/>
            <a:ext cx="4574540" cy="360680"/>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Clr>
                <a:schemeClr val="dk1"/>
              </a:buClr>
              <a:buSzPts val="2200"/>
              <a:buFont typeface="Calibri"/>
              <a:buNone/>
            </a:pPr>
            <a:r>
              <a:rPr lang="en-US" sz="2200"/>
              <a:t>Docker was originally a Linux application</a:t>
            </a:r>
            <a:endParaRPr sz="2200"/>
          </a:p>
        </p:txBody>
      </p:sp>
      <p:sp>
        <p:nvSpPr>
          <p:cNvPr id="130" name="Google Shape;130;p19"/>
          <p:cNvSpPr/>
          <p:nvPr/>
        </p:nvSpPr>
        <p:spPr>
          <a:xfrm>
            <a:off x="667512" y="643128"/>
            <a:ext cx="597535" cy="661670"/>
          </a:xfrm>
          <a:custGeom>
            <a:avLst/>
            <a:gdLst/>
            <a:ahLst/>
            <a:cxnLst/>
            <a:rect l="l" t="t" r="r" b="b"/>
            <a:pathLst>
              <a:path w="597535" h="661669" extrusionOk="0">
                <a:moveTo>
                  <a:pt x="497840" y="0"/>
                </a:moveTo>
                <a:lnTo>
                  <a:pt x="99567" y="0"/>
                </a:lnTo>
                <a:lnTo>
                  <a:pt x="60807" y="7873"/>
                </a:lnTo>
                <a:lnTo>
                  <a:pt x="29159" y="29209"/>
                </a:lnTo>
                <a:lnTo>
                  <a:pt x="7823" y="60832"/>
                </a:lnTo>
                <a:lnTo>
                  <a:pt x="0" y="99567"/>
                </a:lnTo>
                <a:lnTo>
                  <a:pt x="0" y="561847"/>
                </a:lnTo>
                <a:lnTo>
                  <a:pt x="7823" y="600582"/>
                </a:lnTo>
                <a:lnTo>
                  <a:pt x="29159" y="632205"/>
                </a:lnTo>
                <a:lnTo>
                  <a:pt x="60807" y="653541"/>
                </a:lnTo>
                <a:lnTo>
                  <a:pt x="99567" y="661415"/>
                </a:lnTo>
                <a:lnTo>
                  <a:pt x="497840" y="661415"/>
                </a:lnTo>
                <a:lnTo>
                  <a:pt x="536600" y="653541"/>
                </a:lnTo>
                <a:lnTo>
                  <a:pt x="568248" y="632205"/>
                </a:lnTo>
                <a:lnTo>
                  <a:pt x="589584" y="600582"/>
                </a:lnTo>
                <a:lnTo>
                  <a:pt x="597407" y="561847"/>
                </a:lnTo>
                <a:lnTo>
                  <a:pt x="597407" y="99567"/>
                </a:lnTo>
                <a:lnTo>
                  <a:pt x="589584" y="60832"/>
                </a:lnTo>
                <a:lnTo>
                  <a:pt x="568248" y="29209"/>
                </a:lnTo>
                <a:lnTo>
                  <a:pt x="536600" y="7873"/>
                </a:lnTo>
                <a:lnTo>
                  <a:pt x="4978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19"/>
          <p:cNvSpPr/>
          <p:nvPr/>
        </p:nvSpPr>
        <p:spPr>
          <a:xfrm>
            <a:off x="676655" y="1472184"/>
            <a:ext cx="597535" cy="661670"/>
          </a:xfrm>
          <a:custGeom>
            <a:avLst/>
            <a:gdLst/>
            <a:ahLst/>
            <a:cxnLst/>
            <a:rect l="l" t="t" r="r" b="b"/>
            <a:pathLst>
              <a:path w="597535" h="661669" extrusionOk="0">
                <a:moveTo>
                  <a:pt x="497840" y="0"/>
                </a:moveTo>
                <a:lnTo>
                  <a:pt x="99567" y="0"/>
                </a:lnTo>
                <a:lnTo>
                  <a:pt x="60807" y="7874"/>
                </a:lnTo>
                <a:lnTo>
                  <a:pt x="29159" y="29210"/>
                </a:lnTo>
                <a:lnTo>
                  <a:pt x="7823" y="60833"/>
                </a:lnTo>
                <a:lnTo>
                  <a:pt x="0" y="99567"/>
                </a:lnTo>
                <a:lnTo>
                  <a:pt x="0" y="561848"/>
                </a:lnTo>
                <a:lnTo>
                  <a:pt x="7823" y="600582"/>
                </a:lnTo>
                <a:lnTo>
                  <a:pt x="29159" y="632206"/>
                </a:lnTo>
                <a:lnTo>
                  <a:pt x="60807" y="653542"/>
                </a:lnTo>
                <a:lnTo>
                  <a:pt x="99567" y="661416"/>
                </a:lnTo>
                <a:lnTo>
                  <a:pt x="497840" y="661416"/>
                </a:lnTo>
                <a:lnTo>
                  <a:pt x="536600" y="653542"/>
                </a:lnTo>
                <a:lnTo>
                  <a:pt x="568248" y="632206"/>
                </a:lnTo>
                <a:lnTo>
                  <a:pt x="589584" y="600582"/>
                </a:lnTo>
                <a:lnTo>
                  <a:pt x="597407" y="561848"/>
                </a:lnTo>
                <a:lnTo>
                  <a:pt x="597407" y="99567"/>
                </a:lnTo>
                <a:lnTo>
                  <a:pt x="589584" y="60833"/>
                </a:lnTo>
                <a:lnTo>
                  <a:pt x="568248" y="29210"/>
                </a:lnTo>
                <a:lnTo>
                  <a:pt x="536600" y="7874"/>
                </a:lnTo>
                <a:lnTo>
                  <a:pt x="4978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19"/>
          <p:cNvSpPr/>
          <p:nvPr/>
        </p:nvSpPr>
        <p:spPr>
          <a:xfrm>
            <a:off x="685800" y="2304288"/>
            <a:ext cx="597535" cy="658495"/>
          </a:xfrm>
          <a:custGeom>
            <a:avLst/>
            <a:gdLst/>
            <a:ahLst/>
            <a:cxnLst/>
            <a:rect l="l" t="t" r="r" b="b"/>
            <a:pathLst>
              <a:path w="597535" h="658494" extrusionOk="0">
                <a:moveTo>
                  <a:pt x="497840" y="0"/>
                </a:moveTo>
                <a:lnTo>
                  <a:pt x="99568" y="0"/>
                </a:lnTo>
                <a:lnTo>
                  <a:pt x="60807" y="7874"/>
                </a:lnTo>
                <a:lnTo>
                  <a:pt x="29159" y="29209"/>
                </a:lnTo>
                <a:lnTo>
                  <a:pt x="7823" y="60832"/>
                </a:lnTo>
                <a:lnTo>
                  <a:pt x="0" y="99568"/>
                </a:lnTo>
                <a:lnTo>
                  <a:pt x="0" y="558800"/>
                </a:lnTo>
                <a:lnTo>
                  <a:pt x="7823" y="597534"/>
                </a:lnTo>
                <a:lnTo>
                  <a:pt x="29159" y="629157"/>
                </a:lnTo>
                <a:lnTo>
                  <a:pt x="60807" y="650494"/>
                </a:lnTo>
                <a:lnTo>
                  <a:pt x="99568" y="658368"/>
                </a:lnTo>
                <a:lnTo>
                  <a:pt x="497840" y="658368"/>
                </a:lnTo>
                <a:lnTo>
                  <a:pt x="536600" y="650494"/>
                </a:lnTo>
                <a:lnTo>
                  <a:pt x="568248" y="629157"/>
                </a:lnTo>
                <a:lnTo>
                  <a:pt x="589534" y="597534"/>
                </a:lnTo>
                <a:lnTo>
                  <a:pt x="597408" y="558800"/>
                </a:lnTo>
                <a:lnTo>
                  <a:pt x="597408" y="99568"/>
                </a:lnTo>
                <a:lnTo>
                  <a:pt x="589534" y="60832"/>
                </a:lnTo>
                <a:lnTo>
                  <a:pt x="568248" y="29209"/>
                </a:lnTo>
                <a:lnTo>
                  <a:pt x="536600" y="7874"/>
                </a:lnTo>
                <a:lnTo>
                  <a:pt x="4978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19"/>
          <p:cNvSpPr/>
          <p:nvPr/>
        </p:nvSpPr>
        <p:spPr>
          <a:xfrm>
            <a:off x="694944" y="3133344"/>
            <a:ext cx="597535" cy="658495"/>
          </a:xfrm>
          <a:custGeom>
            <a:avLst/>
            <a:gdLst/>
            <a:ahLst/>
            <a:cxnLst/>
            <a:rect l="l" t="t" r="r" b="b"/>
            <a:pathLst>
              <a:path w="597535" h="658495" extrusionOk="0">
                <a:moveTo>
                  <a:pt x="497840" y="0"/>
                </a:moveTo>
                <a:lnTo>
                  <a:pt x="99568" y="0"/>
                </a:lnTo>
                <a:lnTo>
                  <a:pt x="60807" y="7874"/>
                </a:lnTo>
                <a:lnTo>
                  <a:pt x="29159" y="29209"/>
                </a:lnTo>
                <a:lnTo>
                  <a:pt x="7823" y="60832"/>
                </a:lnTo>
                <a:lnTo>
                  <a:pt x="0" y="99568"/>
                </a:lnTo>
                <a:lnTo>
                  <a:pt x="0" y="558799"/>
                </a:lnTo>
                <a:lnTo>
                  <a:pt x="7823" y="597535"/>
                </a:lnTo>
                <a:lnTo>
                  <a:pt x="29159" y="629157"/>
                </a:lnTo>
                <a:lnTo>
                  <a:pt x="60807" y="650493"/>
                </a:lnTo>
                <a:lnTo>
                  <a:pt x="99568" y="658367"/>
                </a:lnTo>
                <a:lnTo>
                  <a:pt x="497840" y="658367"/>
                </a:lnTo>
                <a:lnTo>
                  <a:pt x="536600" y="650493"/>
                </a:lnTo>
                <a:lnTo>
                  <a:pt x="568248" y="629157"/>
                </a:lnTo>
                <a:lnTo>
                  <a:pt x="589534" y="597535"/>
                </a:lnTo>
                <a:lnTo>
                  <a:pt x="597408" y="558799"/>
                </a:lnTo>
                <a:lnTo>
                  <a:pt x="597408" y="99568"/>
                </a:lnTo>
                <a:lnTo>
                  <a:pt x="589534" y="60832"/>
                </a:lnTo>
                <a:lnTo>
                  <a:pt x="568248" y="29209"/>
                </a:lnTo>
                <a:lnTo>
                  <a:pt x="536600" y="7874"/>
                </a:lnTo>
                <a:lnTo>
                  <a:pt x="4978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19"/>
          <p:cNvSpPr txBox="1"/>
          <p:nvPr/>
        </p:nvSpPr>
        <p:spPr>
          <a:xfrm>
            <a:off x="2644520" y="1621663"/>
            <a:ext cx="4927600" cy="3038475"/>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200">
                <a:solidFill>
                  <a:srgbClr val="404040"/>
                </a:solidFill>
                <a:latin typeface="Arial"/>
                <a:ea typeface="Arial"/>
                <a:cs typeface="Arial"/>
                <a:sym typeface="Arial"/>
              </a:rPr>
              <a:t>It uses the kernel container functionality</a:t>
            </a:r>
            <a:endParaRPr sz="2200">
              <a:solidFill>
                <a:schemeClr val="dk1"/>
              </a:solidFill>
              <a:latin typeface="Arial"/>
              <a:ea typeface="Arial"/>
              <a:cs typeface="Arial"/>
              <a:sym typeface="Arial"/>
            </a:endParaRPr>
          </a:p>
          <a:p>
            <a:pPr marL="0" marR="0" lvl="0" indent="0" algn="l" rtl="0">
              <a:lnSpc>
                <a:spcPct val="100000"/>
              </a:lnSpc>
              <a:spcBef>
                <a:spcPts val="50"/>
              </a:spcBef>
              <a:spcAft>
                <a:spcPts val="0"/>
              </a:spcAft>
              <a:buNone/>
            </a:pPr>
            <a:endParaRPr sz="2250">
              <a:solidFill>
                <a:schemeClr val="dk1"/>
              </a:solidFill>
              <a:latin typeface="Times New Roman"/>
              <a:ea typeface="Times New Roman"/>
              <a:cs typeface="Times New Roman"/>
              <a:sym typeface="Times New Roman"/>
            </a:endParaRPr>
          </a:p>
          <a:p>
            <a:pPr marL="21590" marR="0" lvl="0" indent="0" algn="l" rtl="0">
              <a:lnSpc>
                <a:spcPct val="100000"/>
              </a:lnSpc>
              <a:spcBef>
                <a:spcPts val="0"/>
              </a:spcBef>
              <a:spcAft>
                <a:spcPts val="0"/>
              </a:spcAft>
              <a:buNone/>
            </a:pPr>
            <a:r>
              <a:rPr lang="en-US" sz="2200">
                <a:solidFill>
                  <a:srgbClr val="404040"/>
                </a:solidFill>
                <a:latin typeface="Arial"/>
                <a:ea typeface="Arial"/>
                <a:cs typeface="Arial"/>
                <a:sym typeface="Arial"/>
              </a:rPr>
              <a:t>It requires a 64 bit installation using a</a:t>
            </a:r>
            <a:endParaRPr sz="2200">
              <a:solidFill>
                <a:schemeClr val="dk1"/>
              </a:solidFill>
              <a:latin typeface="Arial"/>
              <a:ea typeface="Arial"/>
              <a:cs typeface="Arial"/>
              <a:sym typeface="Arial"/>
            </a:endParaRPr>
          </a:p>
          <a:p>
            <a:pPr marL="21590" marR="0" lvl="0" indent="0" algn="l" rtl="0">
              <a:lnSpc>
                <a:spcPct val="100000"/>
              </a:lnSpc>
              <a:spcBef>
                <a:spcPts val="5"/>
              </a:spcBef>
              <a:spcAft>
                <a:spcPts val="0"/>
              </a:spcAft>
              <a:buNone/>
            </a:pPr>
            <a:r>
              <a:rPr lang="en-US" sz="2200">
                <a:solidFill>
                  <a:srgbClr val="404040"/>
                </a:solidFill>
                <a:latin typeface="Arial"/>
                <a:ea typeface="Arial"/>
                <a:cs typeface="Arial"/>
                <a:sym typeface="Arial"/>
              </a:rPr>
              <a:t>kernel version 3.10 or later</a:t>
            </a:r>
            <a:endParaRPr sz="2200">
              <a:solidFill>
                <a:schemeClr val="dk1"/>
              </a:solidFill>
              <a:latin typeface="Arial"/>
              <a:ea typeface="Arial"/>
              <a:cs typeface="Arial"/>
              <a:sym typeface="Arial"/>
            </a:endParaRPr>
          </a:p>
          <a:p>
            <a:pPr marL="30480" marR="474344" lvl="0" indent="0" algn="l" rtl="0">
              <a:lnSpc>
                <a:spcPct val="100000"/>
              </a:lnSpc>
              <a:spcBef>
                <a:spcPts val="1305"/>
              </a:spcBef>
              <a:spcAft>
                <a:spcPts val="0"/>
              </a:spcAft>
              <a:buNone/>
            </a:pPr>
            <a:r>
              <a:rPr lang="en-US" sz="2200">
                <a:solidFill>
                  <a:srgbClr val="404040"/>
                </a:solidFill>
                <a:latin typeface="Arial"/>
                <a:ea typeface="Arial"/>
                <a:cs typeface="Arial"/>
                <a:sym typeface="Arial"/>
              </a:rPr>
              <a:t>Docker runs on many popular Linux  distributions</a:t>
            </a:r>
            <a:endParaRPr sz="2200">
              <a:solidFill>
                <a:schemeClr val="dk1"/>
              </a:solidFill>
              <a:latin typeface="Arial"/>
              <a:ea typeface="Arial"/>
              <a:cs typeface="Arial"/>
              <a:sym typeface="Arial"/>
            </a:endParaRPr>
          </a:p>
          <a:p>
            <a:pPr marL="40005" marR="0" lvl="0" indent="0" algn="l" rtl="0">
              <a:lnSpc>
                <a:spcPct val="100000"/>
              </a:lnSpc>
              <a:spcBef>
                <a:spcPts val="1300"/>
              </a:spcBef>
              <a:spcAft>
                <a:spcPts val="0"/>
              </a:spcAft>
              <a:buNone/>
            </a:pPr>
            <a:r>
              <a:rPr lang="en-US" sz="2200">
                <a:solidFill>
                  <a:srgbClr val="404040"/>
                </a:solidFill>
                <a:latin typeface="Arial"/>
                <a:ea typeface="Arial"/>
                <a:cs typeface="Arial"/>
                <a:sym typeface="Arial"/>
              </a:rPr>
              <a:t>It is available as RPM, APT, or binary</a:t>
            </a:r>
            <a:endParaRPr sz="2200">
              <a:solidFill>
                <a:schemeClr val="dk1"/>
              </a:solidFill>
              <a:latin typeface="Arial"/>
              <a:ea typeface="Arial"/>
              <a:cs typeface="Arial"/>
              <a:sym typeface="Arial"/>
            </a:endParaRPr>
          </a:p>
          <a:p>
            <a:pPr marL="40005" marR="0" lvl="0" indent="0" algn="l" rtl="0">
              <a:lnSpc>
                <a:spcPct val="100000"/>
              </a:lnSpc>
              <a:spcBef>
                <a:spcPts val="0"/>
              </a:spcBef>
              <a:spcAft>
                <a:spcPts val="0"/>
              </a:spcAft>
              <a:buNone/>
            </a:pPr>
            <a:r>
              <a:rPr lang="en-US" sz="2200">
                <a:solidFill>
                  <a:srgbClr val="404040"/>
                </a:solidFill>
                <a:latin typeface="Arial"/>
                <a:ea typeface="Arial"/>
                <a:cs typeface="Arial"/>
                <a:sym typeface="Arial"/>
              </a:rPr>
              <a:t>versions</a:t>
            </a:r>
            <a:endParaRPr sz="2200">
              <a:solidFill>
                <a:schemeClr val="dk1"/>
              </a:solidFill>
              <a:latin typeface="Arial"/>
              <a:ea typeface="Arial"/>
              <a:cs typeface="Arial"/>
              <a:sym typeface="Arial"/>
            </a:endParaRPr>
          </a:p>
        </p:txBody>
      </p:sp>
      <p:sp>
        <p:nvSpPr>
          <p:cNvPr id="135" name="Google Shape;135;p19"/>
          <p:cNvSpPr/>
          <p:nvPr/>
        </p:nvSpPr>
        <p:spPr>
          <a:xfrm>
            <a:off x="704087" y="3962400"/>
            <a:ext cx="597535" cy="658495"/>
          </a:xfrm>
          <a:custGeom>
            <a:avLst/>
            <a:gdLst/>
            <a:ahLst/>
            <a:cxnLst/>
            <a:rect l="l" t="t" r="r" b="b"/>
            <a:pathLst>
              <a:path w="597535" h="658495" extrusionOk="0">
                <a:moveTo>
                  <a:pt x="497840" y="0"/>
                </a:moveTo>
                <a:lnTo>
                  <a:pt x="99568" y="0"/>
                </a:lnTo>
                <a:lnTo>
                  <a:pt x="60807" y="7823"/>
                </a:lnTo>
                <a:lnTo>
                  <a:pt x="29159" y="29159"/>
                </a:lnTo>
                <a:lnTo>
                  <a:pt x="7823" y="60807"/>
                </a:lnTo>
                <a:lnTo>
                  <a:pt x="0" y="99568"/>
                </a:lnTo>
                <a:lnTo>
                  <a:pt x="0" y="558800"/>
                </a:lnTo>
                <a:lnTo>
                  <a:pt x="7823" y="597560"/>
                </a:lnTo>
                <a:lnTo>
                  <a:pt x="29159" y="629208"/>
                </a:lnTo>
                <a:lnTo>
                  <a:pt x="60807" y="650544"/>
                </a:lnTo>
                <a:lnTo>
                  <a:pt x="99568" y="658368"/>
                </a:lnTo>
                <a:lnTo>
                  <a:pt x="497840" y="658368"/>
                </a:lnTo>
                <a:lnTo>
                  <a:pt x="536600" y="650544"/>
                </a:lnTo>
                <a:lnTo>
                  <a:pt x="568198" y="629208"/>
                </a:lnTo>
                <a:lnTo>
                  <a:pt x="589534" y="597560"/>
                </a:lnTo>
                <a:lnTo>
                  <a:pt x="597408" y="558800"/>
                </a:lnTo>
                <a:lnTo>
                  <a:pt x="597408" y="99568"/>
                </a:lnTo>
                <a:lnTo>
                  <a:pt x="589534" y="60807"/>
                </a:lnTo>
                <a:lnTo>
                  <a:pt x="568198" y="29159"/>
                </a:lnTo>
                <a:lnTo>
                  <a:pt x="536600" y="7823"/>
                </a:lnTo>
                <a:lnTo>
                  <a:pt x="4978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p:nvPr/>
        </p:nvSpPr>
        <p:spPr>
          <a:xfrm>
            <a:off x="113792" y="197942"/>
            <a:ext cx="144335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Calibri"/>
                <a:ea typeface="Calibri"/>
                <a:cs typeface="Calibri"/>
                <a:sym typeface="Calibri"/>
              </a:rPr>
              <a:t>Docker for OS X</a:t>
            </a:r>
            <a:endParaRPr sz="1800">
              <a:solidFill>
                <a:schemeClr val="dk1"/>
              </a:solidFill>
              <a:latin typeface="Calibri"/>
              <a:ea typeface="Calibri"/>
              <a:cs typeface="Calibri"/>
              <a:sym typeface="Calibri"/>
            </a:endParaRPr>
          </a:p>
        </p:txBody>
      </p:sp>
      <p:sp>
        <p:nvSpPr>
          <p:cNvPr id="141" name="Google Shape;141;p20"/>
          <p:cNvSpPr/>
          <p:nvPr/>
        </p:nvSpPr>
        <p:spPr>
          <a:xfrm>
            <a:off x="935736" y="734568"/>
            <a:ext cx="866140" cy="363220"/>
          </a:xfrm>
          <a:custGeom>
            <a:avLst/>
            <a:gdLst/>
            <a:ahLst/>
            <a:cxnLst/>
            <a:rect l="l" t="t" r="r" b="b"/>
            <a:pathLst>
              <a:path w="866139" h="363219" extrusionOk="0">
                <a:moveTo>
                  <a:pt x="684276" y="0"/>
                </a:moveTo>
                <a:lnTo>
                  <a:pt x="0" y="0"/>
                </a:lnTo>
                <a:lnTo>
                  <a:pt x="0" y="362712"/>
                </a:lnTo>
                <a:lnTo>
                  <a:pt x="684276" y="362712"/>
                </a:lnTo>
                <a:lnTo>
                  <a:pt x="865632" y="181355"/>
                </a:lnTo>
                <a:lnTo>
                  <a:pt x="684276"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20"/>
          <p:cNvSpPr/>
          <p:nvPr/>
        </p:nvSpPr>
        <p:spPr>
          <a:xfrm>
            <a:off x="944880" y="1423416"/>
            <a:ext cx="866140" cy="363220"/>
          </a:xfrm>
          <a:custGeom>
            <a:avLst/>
            <a:gdLst/>
            <a:ahLst/>
            <a:cxnLst/>
            <a:rect l="l" t="t" r="r" b="b"/>
            <a:pathLst>
              <a:path w="866139" h="363219" extrusionOk="0">
                <a:moveTo>
                  <a:pt x="684276" y="0"/>
                </a:moveTo>
                <a:lnTo>
                  <a:pt x="0" y="0"/>
                </a:lnTo>
                <a:lnTo>
                  <a:pt x="0" y="362712"/>
                </a:lnTo>
                <a:lnTo>
                  <a:pt x="684276" y="362712"/>
                </a:lnTo>
                <a:lnTo>
                  <a:pt x="865632" y="181355"/>
                </a:lnTo>
                <a:lnTo>
                  <a:pt x="684276"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0"/>
          <p:cNvSpPr/>
          <p:nvPr/>
        </p:nvSpPr>
        <p:spPr>
          <a:xfrm>
            <a:off x="954024" y="2142744"/>
            <a:ext cx="866140" cy="363220"/>
          </a:xfrm>
          <a:custGeom>
            <a:avLst/>
            <a:gdLst/>
            <a:ahLst/>
            <a:cxnLst/>
            <a:rect l="l" t="t" r="r" b="b"/>
            <a:pathLst>
              <a:path w="866139" h="363219" extrusionOk="0">
                <a:moveTo>
                  <a:pt x="684276" y="0"/>
                </a:moveTo>
                <a:lnTo>
                  <a:pt x="0" y="0"/>
                </a:lnTo>
                <a:lnTo>
                  <a:pt x="0" y="362712"/>
                </a:lnTo>
                <a:lnTo>
                  <a:pt x="684276" y="362712"/>
                </a:lnTo>
                <a:lnTo>
                  <a:pt x="865632" y="181356"/>
                </a:lnTo>
                <a:lnTo>
                  <a:pt x="684276"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20"/>
          <p:cNvSpPr/>
          <p:nvPr/>
        </p:nvSpPr>
        <p:spPr>
          <a:xfrm>
            <a:off x="935736" y="2862072"/>
            <a:ext cx="866140" cy="365760"/>
          </a:xfrm>
          <a:custGeom>
            <a:avLst/>
            <a:gdLst/>
            <a:ahLst/>
            <a:cxnLst/>
            <a:rect l="l" t="t" r="r" b="b"/>
            <a:pathLst>
              <a:path w="866139" h="365760" extrusionOk="0">
                <a:moveTo>
                  <a:pt x="682751" y="0"/>
                </a:moveTo>
                <a:lnTo>
                  <a:pt x="0" y="0"/>
                </a:lnTo>
                <a:lnTo>
                  <a:pt x="0" y="365760"/>
                </a:lnTo>
                <a:lnTo>
                  <a:pt x="682751" y="365760"/>
                </a:lnTo>
                <a:lnTo>
                  <a:pt x="865632" y="182880"/>
                </a:lnTo>
                <a:lnTo>
                  <a:pt x="682751"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20"/>
          <p:cNvSpPr/>
          <p:nvPr/>
        </p:nvSpPr>
        <p:spPr>
          <a:xfrm>
            <a:off x="539495" y="585216"/>
            <a:ext cx="658495" cy="658495"/>
          </a:xfrm>
          <a:custGeom>
            <a:avLst/>
            <a:gdLst/>
            <a:ahLst/>
            <a:cxnLst/>
            <a:rect l="l" t="t" r="r" b="b"/>
            <a:pathLst>
              <a:path w="658494" h="658494" extrusionOk="0">
                <a:moveTo>
                  <a:pt x="548640" y="0"/>
                </a:moveTo>
                <a:lnTo>
                  <a:pt x="109728" y="0"/>
                </a:lnTo>
                <a:lnTo>
                  <a:pt x="67017" y="8635"/>
                </a:lnTo>
                <a:lnTo>
                  <a:pt x="32131" y="32130"/>
                </a:lnTo>
                <a:lnTo>
                  <a:pt x="8623" y="67055"/>
                </a:lnTo>
                <a:lnTo>
                  <a:pt x="0" y="109727"/>
                </a:lnTo>
                <a:lnTo>
                  <a:pt x="0" y="548639"/>
                </a:lnTo>
                <a:lnTo>
                  <a:pt x="8623" y="591312"/>
                </a:lnTo>
                <a:lnTo>
                  <a:pt x="32131" y="626237"/>
                </a:lnTo>
                <a:lnTo>
                  <a:pt x="67017" y="649731"/>
                </a:lnTo>
                <a:lnTo>
                  <a:pt x="109728" y="658367"/>
                </a:lnTo>
                <a:lnTo>
                  <a:pt x="548640" y="658367"/>
                </a:lnTo>
                <a:lnTo>
                  <a:pt x="591350" y="649731"/>
                </a:lnTo>
                <a:lnTo>
                  <a:pt x="626224" y="626237"/>
                </a:lnTo>
                <a:lnTo>
                  <a:pt x="649744" y="591312"/>
                </a:lnTo>
                <a:lnTo>
                  <a:pt x="658368" y="548639"/>
                </a:lnTo>
                <a:lnTo>
                  <a:pt x="658368" y="109727"/>
                </a:lnTo>
                <a:lnTo>
                  <a:pt x="649744" y="67055"/>
                </a:lnTo>
                <a:lnTo>
                  <a:pt x="626224" y="32130"/>
                </a:lnTo>
                <a:lnTo>
                  <a:pt x="591350" y="8635"/>
                </a:lnTo>
                <a:lnTo>
                  <a:pt x="5486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0"/>
          <p:cNvSpPr/>
          <p:nvPr/>
        </p:nvSpPr>
        <p:spPr>
          <a:xfrm>
            <a:off x="548640" y="1277112"/>
            <a:ext cx="658495" cy="658495"/>
          </a:xfrm>
          <a:custGeom>
            <a:avLst/>
            <a:gdLst/>
            <a:ahLst/>
            <a:cxnLst/>
            <a:rect l="l" t="t" r="r" b="b"/>
            <a:pathLst>
              <a:path w="658494" h="658494" extrusionOk="0">
                <a:moveTo>
                  <a:pt x="548640" y="0"/>
                </a:moveTo>
                <a:lnTo>
                  <a:pt x="109728" y="0"/>
                </a:lnTo>
                <a:lnTo>
                  <a:pt x="67017" y="8636"/>
                </a:lnTo>
                <a:lnTo>
                  <a:pt x="32130" y="32131"/>
                </a:lnTo>
                <a:lnTo>
                  <a:pt x="8623" y="67056"/>
                </a:lnTo>
                <a:lnTo>
                  <a:pt x="0" y="109728"/>
                </a:lnTo>
                <a:lnTo>
                  <a:pt x="0" y="548639"/>
                </a:lnTo>
                <a:lnTo>
                  <a:pt x="8623" y="591312"/>
                </a:lnTo>
                <a:lnTo>
                  <a:pt x="32130" y="626237"/>
                </a:lnTo>
                <a:lnTo>
                  <a:pt x="67017" y="649732"/>
                </a:lnTo>
                <a:lnTo>
                  <a:pt x="109728" y="658368"/>
                </a:lnTo>
                <a:lnTo>
                  <a:pt x="548640" y="658368"/>
                </a:lnTo>
                <a:lnTo>
                  <a:pt x="591350" y="649732"/>
                </a:lnTo>
                <a:lnTo>
                  <a:pt x="626224" y="626237"/>
                </a:lnTo>
                <a:lnTo>
                  <a:pt x="649744" y="591312"/>
                </a:lnTo>
                <a:lnTo>
                  <a:pt x="658368" y="548639"/>
                </a:lnTo>
                <a:lnTo>
                  <a:pt x="658368" y="109728"/>
                </a:lnTo>
                <a:lnTo>
                  <a:pt x="649744" y="67056"/>
                </a:lnTo>
                <a:lnTo>
                  <a:pt x="626224" y="32131"/>
                </a:lnTo>
                <a:lnTo>
                  <a:pt x="591350" y="8636"/>
                </a:lnTo>
                <a:lnTo>
                  <a:pt x="5486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7" name="Google Shape;147;p20"/>
          <p:cNvSpPr/>
          <p:nvPr/>
        </p:nvSpPr>
        <p:spPr>
          <a:xfrm>
            <a:off x="557783" y="1996440"/>
            <a:ext cx="658495" cy="658495"/>
          </a:xfrm>
          <a:custGeom>
            <a:avLst/>
            <a:gdLst/>
            <a:ahLst/>
            <a:cxnLst/>
            <a:rect l="l" t="t" r="r" b="b"/>
            <a:pathLst>
              <a:path w="658494" h="658494" extrusionOk="0">
                <a:moveTo>
                  <a:pt x="548640" y="0"/>
                </a:moveTo>
                <a:lnTo>
                  <a:pt x="109728" y="0"/>
                </a:lnTo>
                <a:lnTo>
                  <a:pt x="67017" y="8636"/>
                </a:lnTo>
                <a:lnTo>
                  <a:pt x="32131" y="32131"/>
                </a:lnTo>
                <a:lnTo>
                  <a:pt x="8623" y="67056"/>
                </a:lnTo>
                <a:lnTo>
                  <a:pt x="0" y="109728"/>
                </a:lnTo>
                <a:lnTo>
                  <a:pt x="0" y="548639"/>
                </a:lnTo>
                <a:lnTo>
                  <a:pt x="8623" y="591312"/>
                </a:lnTo>
                <a:lnTo>
                  <a:pt x="32131" y="626237"/>
                </a:lnTo>
                <a:lnTo>
                  <a:pt x="67017" y="649732"/>
                </a:lnTo>
                <a:lnTo>
                  <a:pt x="109728" y="658368"/>
                </a:lnTo>
                <a:lnTo>
                  <a:pt x="548640" y="658368"/>
                </a:lnTo>
                <a:lnTo>
                  <a:pt x="591350" y="649732"/>
                </a:lnTo>
                <a:lnTo>
                  <a:pt x="626224" y="626237"/>
                </a:lnTo>
                <a:lnTo>
                  <a:pt x="649744" y="591312"/>
                </a:lnTo>
                <a:lnTo>
                  <a:pt x="658368" y="548639"/>
                </a:lnTo>
                <a:lnTo>
                  <a:pt x="658368" y="109728"/>
                </a:lnTo>
                <a:lnTo>
                  <a:pt x="649744" y="67056"/>
                </a:lnTo>
                <a:lnTo>
                  <a:pt x="626224" y="32131"/>
                </a:lnTo>
                <a:lnTo>
                  <a:pt x="591350" y="8636"/>
                </a:lnTo>
                <a:lnTo>
                  <a:pt x="5486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20"/>
          <p:cNvSpPr/>
          <p:nvPr/>
        </p:nvSpPr>
        <p:spPr>
          <a:xfrm>
            <a:off x="539495" y="2715768"/>
            <a:ext cx="658495" cy="658495"/>
          </a:xfrm>
          <a:custGeom>
            <a:avLst/>
            <a:gdLst/>
            <a:ahLst/>
            <a:cxnLst/>
            <a:rect l="l" t="t" r="r" b="b"/>
            <a:pathLst>
              <a:path w="658494" h="658495" extrusionOk="0">
                <a:moveTo>
                  <a:pt x="548640" y="0"/>
                </a:moveTo>
                <a:lnTo>
                  <a:pt x="109728" y="0"/>
                </a:lnTo>
                <a:lnTo>
                  <a:pt x="67017" y="8635"/>
                </a:lnTo>
                <a:lnTo>
                  <a:pt x="32131" y="32130"/>
                </a:lnTo>
                <a:lnTo>
                  <a:pt x="8623" y="67055"/>
                </a:lnTo>
                <a:lnTo>
                  <a:pt x="0" y="109727"/>
                </a:lnTo>
                <a:lnTo>
                  <a:pt x="0" y="548639"/>
                </a:lnTo>
                <a:lnTo>
                  <a:pt x="8623" y="591311"/>
                </a:lnTo>
                <a:lnTo>
                  <a:pt x="32131" y="626236"/>
                </a:lnTo>
                <a:lnTo>
                  <a:pt x="67017" y="649732"/>
                </a:lnTo>
                <a:lnTo>
                  <a:pt x="109728" y="658367"/>
                </a:lnTo>
                <a:lnTo>
                  <a:pt x="548640" y="658367"/>
                </a:lnTo>
                <a:lnTo>
                  <a:pt x="591350" y="649732"/>
                </a:lnTo>
                <a:lnTo>
                  <a:pt x="626224" y="626236"/>
                </a:lnTo>
                <a:lnTo>
                  <a:pt x="649744" y="591311"/>
                </a:lnTo>
                <a:lnTo>
                  <a:pt x="658368" y="548639"/>
                </a:lnTo>
                <a:lnTo>
                  <a:pt x="658368" y="109727"/>
                </a:lnTo>
                <a:lnTo>
                  <a:pt x="649744" y="67055"/>
                </a:lnTo>
                <a:lnTo>
                  <a:pt x="626224" y="32130"/>
                </a:lnTo>
                <a:lnTo>
                  <a:pt x="591350" y="8635"/>
                </a:lnTo>
                <a:lnTo>
                  <a:pt x="5486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20"/>
          <p:cNvSpPr txBox="1">
            <a:spLocks noGrp="1"/>
          </p:cNvSpPr>
          <p:nvPr>
            <p:ph type="title"/>
          </p:nvPr>
        </p:nvSpPr>
        <p:spPr>
          <a:xfrm>
            <a:off x="2183638" y="727024"/>
            <a:ext cx="3337560" cy="33147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2000"/>
              <a:buFont typeface="Arial"/>
              <a:buNone/>
            </a:pPr>
            <a:r>
              <a:rPr lang="en-US" sz="2000">
                <a:latin typeface="Arial"/>
                <a:ea typeface="Arial"/>
                <a:cs typeface="Arial"/>
                <a:sym typeface="Arial"/>
              </a:rPr>
              <a:t>Docker runs natively on OS X</a:t>
            </a:r>
            <a:endParaRPr sz="2000">
              <a:latin typeface="Arial"/>
              <a:ea typeface="Arial"/>
              <a:cs typeface="Arial"/>
              <a:sym typeface="Arial"/>
            </a:endParaRPr>
          </a:p>
        </p:txBody>
      </p:sp>
      <p:sp>
        <p:nvSpPr>
          <p:cNvPr id="150" name="Google Shape;150;p20"/>
          <p:cNvSpPr txBox="1"/>
          <p:nvPr/>
        </p:nvSpPr>
        <p:spPr>
          <a:xfrm>
            <a:off x="2165095" y="1554226"/>
            <a:ext cx="5739765" cy="2393604"/>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600">
                <a:solidFill>
                  <a:schemeClr val="dk1"/>
                </a:solidFill>
                <a:latin typeface="Calibri"/>
                <a:ea typeface="Calibri"/>
                <a:cs typeface="Calibri"/>
                <a:sym typeface="Calibri"/>
              </a:rPr>
              <a:t>DMG install application running in user space</a:t>
            </a:r>
            <a:endParaRPr/>
          </a:p>
          <a:p>
            <a:pPr marL="12700" marR="0" lvl="0" indent="0" algn="l" rtl="0">
              <a:lnSpc>
                <a:spcPct val="100000"/>
              </a:lnSpc>
              <a:spcBef>
                <a:spcPts val="105"/>
              </a:spcBef>
              <a:spcAft>
                <a:spcPts val="0"/>
              </a:spcAft>
              <a:buNone/>
            </a:pPr>
            <a:endParaRPr sz="1600">
              <a:solidFill>
                <a:schemeClr val="dk1"/>
              </a:solidFill>
              <a:latin typeface="Calibri"/>
              <a:ea typeface="Calibri"/>
              <a:cs typeface="Calibri"/>
              <a:sym typeface="Calibri"/>
            </a:endParaRPr>
          </a:p>
          <a:p>
            <a:pPr marL="12700" marR="0" lvl="0" indent="0" algn="l" rtl="0">
              <a:lnSpc>
                <a:spcPct val="100000"/>
              </a:lnSpc>
              <a:spcBef>
                <a:spcPts val="105"/>
              </a:spcBef>
              <a:spcAft>
                <a:spcPts val="0"/>
              </a:spcAft>
              <a:buNone/>
            </a:pPr>
            <a:r>
              <a:rPr lang="en-US" sz="1600">
                <a:solidFill>
                  <a:schemeClr val="dk1"/>
                </a:solidFill>
                <a:latin typeface="Calibri"/>
                <a:ea typeface="Calibri"/>
                <a:cs typeface="Calibri"/>
                <a:sym typeface="Calibri"/>
              </a:rPr>
              <a:t>Is built on the xhyve hypervisor</a:t>
            </a:r>
            <a:endParaRPr/>
          </a:p>
          <a:p>
            <a:pPr marL="12700" marR="0" lvl="0" indent="0" algn="l" rtl="0">
              <a:lnSpc>
                <a:spcPct val="100000"/>
              </a:lnSpc>
              <a:spcBef>
                <a:spcPts val="105"/>
              </a:spcBef>
              <a:spcAft>
                <a:spcPts val="0"/>
              </a:spcAft>
              <a:buNone/>
            </a:pPr>
            <a:endParaRPr sz="1600">
              <a:solidFill>
                <a:schemeClr val="dk1"/>
              </a:solidFill>
              <a:latin typeface="Calibri"/>
              <a:ea typeface="Calibri"/>
              <a:cs typeface="Calibri"/>
              <a:sym typeface="Calibri"/>
            </a:endParaRPr>
          </a:p>
          <a:p>
            <a:pPr marL="12700" marR="0" lvl="0" indent="0" algn="l" rtl="0">
              <a:lnSpc>
                <a:spcPct val="100000"/>
              </a:lnSpc>
              <a:spcBef>
                <a:spcPts val="105"/>
              </a:spcBef>
              <a:spcAft>
                <a:spcPts val="0"/>
              </a:spcAft>
              <a:buNone/>
            </a:pPr>
            <a:r>
              <a:rPr lang="en-US" sz="1600">
                <a:solidFill>
                  <a:schemeClr val="dk1"/>
                </a:solidFill>
                <a:latin typeface="Calibri"/>
                <a:ea typeface="Calibri"/>
                <a:cs typeface="Calibri"/>
                <a:sym typeface="Calibri"/>
              </a:rPr>
              <a:t>Requires a 2010 or newer Mac with Intel MMU and</a:t>
            </a:r>
            <a:endParaRPr/>
          </a:p>
          <a:p>
            <a:pPr marL="12700" marR="0" lvl="0" indent="0" algn="l" rtl="0">
              <a:lnSpc>
                <a:spcPct val="100000"/>
              </a:lnSpc>
              <a:spcBef>
                <a:spcPts val="105"/>
              </a:spcBef>
              <a:spcAft>
                <a:spcPts val="0"/>
              </a:spcAft>
              <a:buNone/>
            </a:pPr>
            <a:r>
              <a:rPr lang="en-US" sz="1600">
                <a:solidFill>
                  <a:schemeClr val="dk1"/>
                </a:solidFill>
                <a:latin typeface="Calibri"/>
                <a:ea typeface="Calibri"/>
                <a:cs typeface="Calibri"/>
                <a:sym typeface="Calibri"/>
              </a:rPr>
              <a:t>EPT support</a:t>
            </a:r>
            <a:endParaRPr/>
          </a:p>
          <a:p>
            <a:pPr marL="12700" marR="0" lvl="0" indent="0" algn="l" rtl="0">
              <a:lnSpc>
                <a:spcPct val="100000"/>
              </a:lnSpc>
              <a:spcBef>
                <a:spcPts val="105"/>
              </a:spcBef>
              <a:spcAft>
                <a:spcPts val="0"/>
              </a:spcAft>
              <a:buNone/>
            </a:pPr>
            <a:r>
              <a:rPr lang="en-US" sz="1600">
                <a:solidFill>
                  <a:schemeClr val="dk1"/>
                </a:solidFill>
                <a:latin typeface="Calibri"/>
                <a:ea typeface="Calibri"/>
                <a:cs typeface="Calibri"/>
                <a:sym typeface="Calibri"/>
              </a:rPr>
              <a:t>Requires OS X 10.10.3 Yosemite or newer</a:t>
            </a:r>
            <a:endParaRPr/>
          </a:p>
          <a:p>
            <a:pPr marL="12700" marR="0" lvl="0" indent="0" algn="l" rtl="0">
              <a:lnSpc>
                <a:spcPct val="100000"/>
              </a:lnSpc>
              <a:spcBef>
                <a:spcPts val="105"/>
              </a:spcBef>
              <a:spcAft>
                <a:spcPts val="0"/>
              </a:spcAft>
              <a:buNone/>
            </a:pPr>
            <a:endParaRPr sz="1600">
              <a:solidFill>
                <a:schemeClr val="dk1"/>
              </a:solidFill>
              <a:latin typeface="Calibri"/>
              <a:ea typeface="Calibri"/>
              <a:cs typeface="Calibri"/>
              <a:sym typeface="Calibri"/>
            </a:endParaRPr>
          </a:p>
          <a:p>
            <a:pPr marL="12700" marR="0" lvl="0" indent="0" algn="l" rtl="0">
              <a:lnSpc>
                <a:spcPct val="100000"/>
              </a:lnSpc>
              <a:spcBef>
                <a:spcPts val="105"/>
              </a:spcBef>
              <a:spcAft>
                <a:spcPts val="0"/>
              </a:spcAft>
              <a:buNone/>
            </a:pPr>
            <a:r>
              <a:rPr lang="en-US" sz="1600">
                <a:solidFill>
                  <a:schemeClr val="dk1"/>
                </a:solidFill>
                <a:latin typeface="Calibri"/>
                <a:ea typeface="Calibri"/>
                <a:cs typeface="Calibri"/>
                <a:sym typeface="Calibri"/>
              </a:rPr>
              <a:t>Requires at least 4GB of RAM</a:t>
            </a:r>
            <a:endParaRPr sz="1600">
              <a:solidFill>
                <a:schemeClr val="dk1"/>
              </a:solidFill>
              <a:latin typeface="Calibri"/>
              <a:ea typeface="Calibri"/>
              <a:cs typeface="Calibri"/>
              <a:sym typeface="Calibri"/>
            </a:endParaRPr>
          </a:p>
        </p:txBody>
      </p:sp>
      <p:sp>
        <p:nvSpPr>
          <p:cNvPr id="151" name="Google Shape;151;p20"/>
          <p:cNvSpPr/>
          <p:nvPr/>
        </p:nvSpPr>
        <p:spPr>
          <a:xfrm>
            <a:off x="954024" y="3619246"/>
            <a:ext cx="866140" cy="363220"/>
          </a:xfrm>
          <a:custGeom>
            <a:avLst/>
            <a:gdLst/>
            <a:ahLst/>
            <a:cxnLst/>
            <a:rect l="l" t="t" r="r" b="b"/>
            <a:pathLst>
              <a:path w="866139" h="363220" extrusionOk="0">
                <a:moveTo>
                  <a:pt x="684276" y="0"/>
                </a:moveTo>
                <a:lnTo>
                  <a:pt x="0" y="0"/>
                </a:lnTo>
                <a:lnTo>
                  <a:pt x="0" y="362712"/>
                </a:lnTo>
                <a:lnTo>
                  <a:pt x="684276" y="362712"/>
                </a:lnTo>
                <a:lnTo>
                  <a:pt x="865632" y="181356"/>
                </a:lnTo>
                <a:lnTo>
                  <a:pt x="684276"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 name="Google Shape;152;p20"/>
          <p:cNvSpPr/>
          <p:nvPr/>
        </p:nvSpPr>
        <p:spPr>
          <a:xfrm>
            <a:off x="539495" y="3471545"/>
            <a:ext cx="658495" cy="658495"/>
          </a:xfrm>
          <a:custGeom>
            <a:avLst/>
            <a:gdLst/>
            <a:ahLst/>
            <a:cxnLst/>
            <a:rect l="l" t="t" r="r" b="b"/>
            <a:pathLst>
              <a:path w="658494" h="658495" extrusionOk="0">
                <a:moveTo>
                  <a:pt x="548640" y="0"/>
                </a:moveTo>
                <a:lnTo>
                  <a:pt x="109728" y="0"/>
                </a:lnTo>
                <a:lnTo>
                  <a:pt x="67017" y="8636"/>
                </a:lnTo>
                <a:lnTo>
                  <a:pt x="32131" y="32257"/>
                </a:lnTo>
                <a:lnTo>
                  <a:pt x="8623" y="67056"/>
                </a:lnTo>
                <a:lnTo>
                  <a:pt x="0" y="109728"/>
                </a:lnTo>
                <a:lnTo>
                  <a:pt x="0" y="548703"/>
                </a:lnTo>
                <a:lnTo>
                  <a:pt x="8623" y="591413"/>
                </a:lnTo>
                <a:lnTo>
                  <a:pt x="32131" y="626287"/>
                </a:lnTo>
                <a:lnTo>
                  <a:pt x="67017" y="649808"/>
                </a:lnTo>
                <a:lnTo>
                  <a:pt x="109728" y="658431"/>
                </a:lnTo>
                <a:lnTo>
                  <a:pt x="548640" y="658431"/>
                </a:lnTo>
                <a:lnTo>
                  <a:pt x="591350" y="649808"/>
                </a:lnTo>
                <a:lnTo>
                  <a:pt x="626224" y="626287"/>
                </a:lnTo>
                <a:lnTo>
                  <a:pt x="649744" y="591413"/>
                </a:lnTo>
                <a:lnTo>
                  <a:pt x="658368" y="548703"/>
                </a:lnTo>
                <a:lnTo>
                  <a:pt x="658368" y="109728"/>
                </a:lnTo>
                <a:lnTo>
                  <a:pt x="649744" y="67056"/>
                </a:lnTo>
                <a:lnTo>
                  <a:pt x="626224" y="32257"/>
                </a:lnTo>
                <a:lnTo>
                  <a:pt x="591350" y="8636"/>
                </a:lnTo>
                <a:lnTo>
                  <a:pt x="5486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3" name="Google Shape;153;p20"/>
          <p:cNvSpPr/>
          <p:nvPr/>
        </p:nvSpPr>
        <p:spPr>
          <a:xfrm>
            <a:off x="944880" y="4325111"/>
            <a:ext cx="866140" cy="365760"/>
          </a:xfrm>
          <a:custGeom>
            <a:avLst/>
            <a:gdLst/>
            <a:ahLst/>
            <a:cxnLst/>
            <a:rect l="l" t="t" r="r" b="b"/>
            <a:pathLst>
              <a:path w="866139" h="365760" extrusionOk="0">
                <a:moveTo>
                  <a:pt x="682751" y="0"/>
                </a:moveTo>
                <a:lnTo>
                  <a:pt x="0" y="0"/>
                </a:lnTo>
                <a:lnTo>
                  <a:pt x="0" y="365760"/>
                </a:lnTo>
                <a:lnTo>
                  <a:pt x="682751" y="365760"/>
                </a:lnTo>
                <a:lnTo>
                  <a:pt x="865632" y="182880"/>
                </a:lnTo>
                <a:lnTo>
                  <a:pt x="682751" y="0"/>
                </a:lnTo>
                <a:close/>
              </a:path>
            </a:pathLst>
          </a:custGeom>
          <a:solidFill>
            <a:srgbClr val="2CCC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20"/>
          <p:cNvSpPr/>
          <p:nvPr/>
        </p:nvSpPr>
        <p:spPr>
          <a:xfrm>
            <a:off x="560679" y="4178744"/>
            <a:ext cx="658495" cy="658495"/>
          </a:xfrm>
          <a:custGeom>
            <a:avLst/>
            <a:gdLst/>
            <a:ahLst/>
            <a:cxnLst/>
            <a:rect l="l" t="t" r="r" b="b"/>
            <a:pathLst>
              <a:path w="658494" h="658495" extrusionOk="0">
                <a:moveTo>
                  <a:pt x="548640" y="0"/>
                </a:moveTo>
                <a:lnTo>
                  <a:pt x="109727" y="0"/>
                </a:lnTo>
                <a:lnTo>
                  <a:pt x="67017" y="8623"/>
                </a:lnTo>
                <a:lnTo>
                  <a:pt x="32143" y="32130"/>
                </a:lnTo>
                <a:lnTo>
                  <a:pt x="8623" y="67017"/>
                </a:lnTo>
                <a:lnTo>
                  <a:pt x="0" y="109727"/>
                </a:lnTo>
                <a:lnTo>
                  <a:pt x="0" y="548640"/>
                </a:lnTo>
                <a:lnTo>
                  <a:pt x="8623" y="591350"/>
                </a:lnTo>
                <a:lnTo>
                  <a:pt x="32143" y="626224"/>
                </a:lnTo>
                <a:lnTo>
                  <a:pt x="67017" y="649744"/>
                </a:lnTo>
                <a:lnTo>
                  <a:pt x="109727" y="658367"/>
                </a:lnTo>
                <a:lnTo>
                  <a:pt x="548640" y="658367"/>
                </a:lnTo>
                <a:lnTo>
                  <a:pt x="591350" y="649744"/>
                </a:lnTo>
                <a:lnTo>
                  <a:pt x="626236" y="626224"/>
                </a:lnTo>
                <a:lnTo>
                  <a:pt x="649744" y="591350"/>
                </a:lnTo>
                <a:lnTo>
                  <a:pt x="658368" y="548640"/>
                </a:lnTo>
                <a:lnTo>
                  <a:pt x="658368" y="109727"/>
                </a:lnTo>
                <a:lnTo>
                  <a:pt x="649744" y="67017"/>
                </a:lnTo>
                <a:lnTo>
                  <a:pt x="626236" y="32130"/>
                </a:lnTo>
                <a:lnTo>
                  <a:pt x="591350" y="8623"/>
                </a:lnTo>
                <a:lnTo>
                  <a:pt x="548640" y="0"/>
                </a:lnTo>
                <a:close/>
              </a:path>
            </a:pathLst>
          </a:custGeom>
          <a:solidFill>
            <a:srgbClr val="27AC5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21" descr="Docker Images, Docker Hub, Docker File and Docker Container - Docker Tutorial - Edureka"/>
          <p:cNvPicPr preferRelativeResize="0"/>
          <p:nvPr/>
        </p:nvPicPr>
        <p:blipFill rotWithShape="1">
          <a:blip r:embed="rId3">
            <a:alphaModFix/>
          </a:blip>
          <a:srcRect/>
          <a:stretch/>
        </p:blipFill>
        <p:spPr>
          <a:xfrm>
            <a:off x="1219200" y="1355725"/>
            <a:ext cx="6981371" cy="2819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2"/>
          <p:cNvSpPr/>
          <p:nvPr/>
        </p:nvSpPr>
        <p:spPr>
          <a:xfrm>
            <a:off x="3413759" y="771144"/>
            <a:ext cx="5730239" cy="305409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22"/>
          <p:cNvSpPr txBox="1">
            <a:spLocks noGrp="1"/>
          </p:cNvSpPr>
          <p:nvPr>
            <p:ph type="title"/>
          </p:nvPr>
        </p:nvSpPr>
        <p:spPr>
          <a:xfrm>
            <a:off x="20827" y="197611"/>
            <a:ext cx="1842135" cy="2997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FFFFFF"/>
              </a:buClr>
              <a:buSzPts val="1800"/>
              <a:buFont typeface="Calibri"/>
              <a:buNone/>
            </a:pPr>
            <a:r>
              <a:rPr lang="en-US" sz="1800">
                <a:solidFill>
                  <a:srgbClr val="FFFFFF"/>
                </a:solidFill>
              </a:rPr>
              <a:t>Docker Architecture</a:t>
            </a:r>
            <a:endParaRPr sz="1800"/>
          </a:p>
        </p:txBody>
      </p:sp>
      <p:sp>
        <p:nvSpPr>
          <p:cNvPr id="166" name="Google Shape;166;p22"/>
          <p:cNvSpPr txBox="1"/>
          <p:nvPr/>
        </p:nvSpPr>
        <p:spPr>
          <a:xfrm>
            <a:off x="257962" y="2221230"/>
            <a:ext cx="74930" cy="1936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100">
                <a:solidFill>
                  <a:srgbClr val="404040"/>
                </a:solidFill>
                <a:latin typeface="Arial"/>
                <a:ea typeface="Arial"/>
                <a:cs typeface="Arial"/>
                <a:sym typeface="Arial"/>
              </a:rPr>
              <a:t>•</a:t>
            </a:r>
            <a:endParaRPr sz="1100">
              <a:solidFill>
                <a:schemeClr val="dk1"/>
              </a:solidFill>
              <a:latin typeface="Arial"/>
              <a:ea typeface="Arial"/>
              <a:cs typeface="Arial"/>
              <a:sym typeface="Arial"/>
            </a:endParaRPr>
          </a:p>
        </p:txBody>
      </p:sp>
      <p:sp>
        <p:nvSpPr>
          <p:cNvPr id="167" name="Google Shape;167;p22"/>
          <p:cNvSpPr txBox="1"/>
          <p:nvPr/>
        </p:nvSpPr>
        <p:spPr>
          <a:xfrm>
            <a:off x="257962" y="623417"/>
            <a:ext cx="3084195" cy="1542415"/>
          </a:xfrm>
          <a:prstGeom prst="rect">
            <a:avLst/>
          </a:prstGeom>
          <a:noFill/>
          <a:ln>
            <a:noFill/>
          </a:ln>
        </p:spPr>
        <p:txBody>
          <a:bodyPr spcFirstLastPara="1" wrap="square" lIns="0" tIns="100950" rIns="0" bIns="0" anchor="t" anchorCtr="0">
            <a:spAutoFit/>
          </a:bodyPr>
          <a:lstStyle/>
          <a:p>
            <a:pPr marL="356870" marR="0" lvl="0" indent="-344805" algn="l" rtl="0">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Docker uses a client-server architecture</a:t>
            </a:r>
            <a:endParaRPr/>
          </a:p>
          <a:p>
            <a:pPr marL="356870" marR="0" lvl="0" indent="-344805" algn="l" rtl="0">
              <a:lnSpc>
                <a:spcPct val="100000"/>
              </a:lnSpc>
              <a:spcBef>
                <a:spcPts val="695"/>
              </a:spcBef>
              <a:spcAft>
                <a:spcPts val="0"/>
              </a:spcAft>
              <a:buClr>
                <a:schemeClr val="dk1"/>
              </a:buClr>
              <a:buSzPts val="1100"/>
              <a:buFont typeface="Arial"/>
              <a:buChar char="•"/>
            </a:pPr>
            <a:r>
              <a:rPr lang="en-US" sz="1100">
                <a:solidFill>
                  <a:schemeClr val="dk1"/>
                </a:solidFill>
                <a:latin typeface="Arial"/>
                <a:ea typeface="Arial"/>
                <a:cs typeface="Arial"/>
                <a:sym typeface="Arial"/>
              </a:rPr>
              <a:t>Client</a:t>
            </a:r>
            <a:endParaRPr sz="1100">
              <a:solidFill>
                <a:schemeClr val="dk1"/>
              </a:solidFill>
              <a:latin typeface="Arial"/>
              <a:ea typeface="Arial"/>
              <a:cs typeface="Arial"/>
              <a:sym typeface="Arial"/>
            </a:endParaRPr>
          </a:p>
          <a:p>
            <a:pPr marL="979169" marR="0" lvl="1" indent="-342265" algn="l" rtl="0">
              <a:lnSpc>
                <a:spcPct val="100000"/>
              </a:lnSpc>
              <a:spcBef>
                <a:spcPts val="625"/>
              </a:spcBef>
              <a:spcAft>
                <a:spcPts val="0"/>
              </a:spcAft>
              <a:buClr>
                <a:schemeClr val="dk1"/>
              </a:buClr>
              <a:buSzPts val="1100"/>
              <a:buFont typeface="Courier New"/>
              <a:buChar char="o"/>
            </a:pPr>
            <a:r>
              <a:rPr lang="en-US" sz="1100" b="0" i="0" u="none" strike="noStrike" cap="none">
                <a:solidFill>
                  <a:schemeClr val="dk1"/>
                </a:solidFill>
                <a:latin typeface="Arial"/>
                <a:ea typeface="Arial"/>
                <a:cs typeface="Arial"/>
                <a:sym typeface="Arial"/>
              </a:rPr>
              <a:t>Is the primary user interface which</a:t>
            </a:r>
            <a:endParaRPr sz="1100" b="0" i="0" u="none" strike="noStrike" cap="none">
              <a:solidFill>
                <a:schemeClr val="dk1"/>
              </a:solidFill>
              <a:latin typeface="Arial"/>
              <a:ea typeface="Arial"/>
              <a:cs typeface="Arial"/>
              <a:sym typeface="Arial"/>
            </a:endParaRPr>
          </a:p>
          <a:p>
            <a:pPr marL="979169" marR="0" lvl="0" indent="0" algn="l" rtl="0">
              <a:lnSpc>
                <a:spcPct val="100000"/>
              </a:lnSpc>
              <a:spcBef>
                <a:spcPts val="700"/>
              </a:spcBef>
              <a:spcAft>
                <a:spcPts val="0"/>
              </a:spcAft>
              <a:buNone/>
            </a:pPr>
            <a:r>
              <a:rPr lang="en-US" sz="1100">
                <a:solidFill>
                  <a:schemeClr val="dk1"/>
                </a:solidFill>
                <a:latin typeface="Arial"/>
                <a:ea typeface="Arial"/>
                <a:cs typeface="Arial"/>
                <a:sym typeface="Arial"/>
              </a:rPr>
              <a:t>communicates using a REST API</a:t>
            </a:r>
            <a:endParaRPr sz="1100">
              <a:solidFill>
                <a:schemeClr val="dk1"/>
              </a:solidFill>
              <a:latin typeface="Arial"/>
              <a:ea typeface="Arial"/>
              <a:cs typeface="Arial"/>
              <a:sym typeface="Arial"/>
            </a:endParaRPr>
          </a:p>
          <a:p>
            <a:pPr marL="979169" marR="0" lvl="1" indent="-342265" algn="l" rtl="0">
              <a:lnSpc>
                <a:spcPct val="100000"/>
              </a:lnSpc>
              <a:spcBef>
                <a:spcPts val="710"/>
              </a:spcBef>
              <a:spcAft>
                <a:spcPts val="0"/>
              </a:spcAft>
              <a:buClr>
                <a:schemeClr val="dk1"/>
              </a:buClr>
              <a:buSzPts val="1100"/>
              <a:buFont typeface="Courier New"/>
              <a:buChar char="o"/>
            </a:pPr>
            <a:r>
              <a:rPr lang="en-US" sz="1100" b="0" i="0" u="none" strike="noStrike" cap="none">
                <a:solidFill>
                  <a:schemeClr val="dk1"/>
                </a:solidFill>
                <a:latin typeface="Arial"/>
                <a:ea typeface="Arial"/>
                <a:cs typeface="Arial"/>
                <a:sym typeface="Arial"/>
              </a:rPr>
              <a:t>Over HTTP</a:t>
            </a:r>
            <a:endParaRPr/>
          </a:p>
          <a:p>
            <a:pPr marL="979169" marR="0" lvl="1" indent="-342265" algn="l" rtl="0">
              <a:lnSpc>
                <a:spcPct val="100000"/>
              </a:lnSpc>
              <a:spcBef>
                <a:spcPts val="600"/>
              </a:spcBef>
              <a:spcAft>
                <a:spcPts val="0"/>
              </a:spcAft>
              <a:buClr>
                <a:schemeClr val="dk1"/>
              </a:buClr>
              <a:buSzPts val="1100"/>
              <a:buFont typeface="Courier New"/>
              <a:buChar char="o"/>
            </a:pPr>
            <a:r>
              <a:rPr lang="en-US" sz="1100" b="0" i="0" u="none" strike="noStrike" cap="none">
                <a:solidFill>
                  <a:schemeClr val="dk1"/>
                </a:solidFill>
                <a:latin typeface="Arial"/>
                <a:ea typeface="Arial"/>
                <a:cs typeface="Arial"/>
                <a:sym typeface="Arial"/>
              </a:rPr>
              <a:t>Over local Unix socket</a:t>
            </a:r>
            <a:endParaRPr/>
          </a:p>
        </p:txBody>
      </p:sp>
      <p:sp>
        <p:nvSpPr>
          <p:cNvPr id="168" name="Google Shape;168;p22"/>
          <p:cNvSpPr txBox="1"/>
          <p:nvPr/>
        </p:nvSpPr>
        <p:spPr>
          <a:xfrm>
            <a:off x="615391" y="2228215"/>
            <a:ext cx="411480" cy="182101"/>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None/>
            </a:pPr>
            <a:r>
              <a:rPr lang="en-US" sz="1100">
                <a:solidFill>
                  <a:schemeClr val="dk1"/>
                </a:solidFill>
                <a:latin typeface="Arial"/>
                <a:ea typeface="Arial"/>
                <a:cs typeface="Arial"/>
                <a:sym typeface="Arial"/>
              </a:rPr>
              <a:t>Server</a:t>
            </a:r>
            <a:endParaRPr/>
          </a:p>
        </p:txBody>
      </p:sp>
      <p:sp>
        <p:nvSpPr>
          <p:cNvPr id="169" name="Google Shape;169;p22"/>
          <p:cNvSpPr txBox="1"/>
          <p:nvPr/>
        </p:nvSpPr>
        <p:spPr>
          <a:xfrm>
            <a:off x="257962" y="2394756"/>
            <a:ext cx="3868420" cy="2294255"/>
          </a:xfrm>
          <a:prstGeom prst="rect">
            <a:avLst/>
          </a:prstGeom>
          <a:noFill/>
          <a:ln>
            <a:noFill/>
          </a:ln>
        </p:spPr>
        <p:txBody>
          <a:bodyPr spcFirstLastPara="1" wrap="square" lIns="0" tIns="102850" rIns="0" bIns="0" anchor="t" anchorCtr="0">
            <a:spAutoFit/>
          </a:bodyPr>
          <a:lstStyle/>
          <a:p>
            <a:pPr marL="979169" marR="0" lvl="0" indent="-342265" algn="l" rtl="0">
              <a:lnSpc>
                <a:spcPct val="100000"/>
              </a:lnSpc>
              <a:spcBef>
                <a:spcPts val="0"/>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Is the Docker daemon</a:t>
            </a:r>
            <a:endParaRPr/>
          </a:p>
          <a:p>
            <a:pPr marL="979169" marR="562610" lvl="0" indent="-341630" algn="l" rtl="0">
              <a:lnSpc>
                <a:spcPct val="145500"/>
              </a:lnSpc>
              <a:spcBef>
                <a:spcPts val="105"/>
              </a:spcBef>
              <a:spcAft>
                <a:spcPts val="0"/>
              </a:spcAft>
              <a:buClr>
                <a:schemeClr val="dk1"/>
              </a:buClr>
              <a:buSzPts val="1100"/>
              <a:buFont typeface="Courier New"/>
              <a:buChar char="o"/>
            </a:pPr>
            <a:r>
              <a:rPr lang="en-US" sz="1100">
                <a:solidFill>
                  <a:schemeClr val="dk1"/>
                </a:solidFill>
                <a:latin typeface="Arial"/>
                <a:ea typeface="Arial"/>
                <a:cs typeface="Arial"/>
                <a:sym typeface="Arial"/>
              </a:rPr>
              <a:t>Responsible for building, running, and  distributing containers</a:t>
            </a:r>
            <a:endParaRPr sz="1100">
              <a:solidFill>
                <a:schemeClr val="dk1"/>
              </a:solidFill>
              <a:latin typeface="Arial"/>
              <a:ea typeface="Arial"/>
              <a:cs typeface="Arial"/>
              <a:sym typeface="Arial"/>
            </a:endParaRPr>
          </a:p>
          <a:p>
            <a:pPr marL="356870" marR="0" lvl="0" indent="-344805" algn="l" rtl="0">
              <a:lnSpc>
                <a:spcPct val="100000"/>
              </a:lnSpc>
              <a:spcBef>
                <a:spcPts val="590"/>
              </a:spcBef>
              <a:spcAft>
                <a:spcPts val="0"/>
              </a:spcAft>
              <a:buClr>
                <a:schemeClr val="dk1"/>
              </a:buClr>
              <a:buSzPts val="1100"/>
              <a:buFont typeface="Arial"/>
              <a:buChar char="•"/>
            </a:pPr>
            <a:r>
              <a:rPr lang="en-US" sz="1100">
                <a:solidFill>
                  <a:schemeClr val="dk1"/>
                </a:solidFill>
                <a:latin typeface="Arial"/>
                <a:ea typeface="Arial"/>
                <a:cs typeface="Arial"/>
                <a:sym typeface="Arial"/>
              </a:rPr>
              <a:t>Registry</a:t>
            </a:r>
            <a:endParaRPr sz="1100">
              <a:solidFill>
                <a:schemeClr val="dk1"/>
              </a:solidFill>
              <a:latin typeface="Arial"/>
              <a:ea typeface="Arial"/>
              <a:cs typeface="Arial"/>
              <a:sym typeface="Arial"/>
            </a:endParaRPr>
          </a:p>
          <a:p>
            <a:pPr marL="979169" marR="5080" lvl="1" indent="-341630" algn="l" rtl="0">
              <a:lnSpc>
                <a:spcPct val="190909"/>
              </a:lnSpc>
              <a:spcBef>
                <a:spcPts val="45"/>
              </a:spcBef>
              <a:spcAft>
                <a:spcPts val="0"/>
              </a:spcAft>
              <a:buClr>
                <a:schemeClr val="dk1"/>
              </a:buClr>
              <a:buSzPts val="1100"/>
              <a:buFont typeface="Courier New"/>
              <a:buChar char="o"/>
            </a:pPr>
            <a:r>
              <a:rPr lang="en-US" sz="1100" b="0" i="0" u="none" strike="noStrike" cap="none">
                <a:solidFill>
                  <a:schemeClr val="dk1"/>
                </a:solidFill>
                <a:latin typeface="Arial"/>
                <a:ea typeface="Arial"/>
                <a:cs typeface="Arial"/>
                <a:sym typeface="Arial"/>
              </a:rPr>
              <a:t>Responsible for the storage, management, and  delivery of Docker Images</a:t>
            </a:r>
            <a:endParaRPr sz="1100" b="0" i="0" u="none" strike="noStrike" cap="none">
              <a:solidFill>
                <a:schemeClr val="dk1"/>
              </a:solidFill>
              <a:latin typeface="Arial"/>
              <a:ea typeface="Arial"/>
              <a:cs typeface="Arial"/>
              <a:sym typeface="Arial"/>
            </a:endParaRPr>
          </a:p>
          <a:p>
            <a:pPr marL="1604010" marR="0" lvl="2" indent="-342265" algn="l" rtl="0">
              <a:lnSpc>
                <a:spcPct val="100000"/>
              </a:lnSpc>
              <a:spcBef>
                <a:spcPts val="365"/>
              </a:spcBef>
              <a:spcAft>
                <a:spcPts val="0"/>
              </a:spcAft>
              <a:buClr>
                <a:schemeClr val="dk1"/>
              </a:buClr>
              <a:buSzPts val="1100"/>
              <a:buFont typeface="Courier New"/>
              <a:buChar char="o"/>
            </a:pPr>
            <a:r>
              <a:rPr lang="en-US" sz="1100" b="0" i="0" u="none" strike="noStrike" cap="none">
                <a:solidFill>
                  <a:schemeClr val="dk1"/>
                </a:solidFill>
                <a:latin typeface="Arial"/>
                <a:ea typeface="Arial"/>
                <a:cs typeface="Arial"/>
                <a:sym typeface="Arial"/>
              </a:rPr>
              <a:t>Docker Hub</a:t>
            </a:r>
            <a:endParaRPr sz="1100" b="0" i="0" u="none" strike="noStrike" cap="none">
              <a:solidFill>
                <a:schemeClr val="dk1"/>
              </a:solidFill>
              <a:latin typeface="Arial"/>
              <a:ea typeface="Arial"/>
              <a:cs typeface="Arial"/>
              <a:sym typeface="Arial"/>
            </a:endParaRPr>
          </a:p>
          <a:p>
            <a:pPr marL="1604010" marR="0" lvl="2" indent="-342265" algn="l" rtl="0">
              <a:lnSpc>
                <a:spcPct val="100000"/>
              </a:lnSpc>
              <a:spcBef>
                <a:spcPts val="695"/>
              </a:spcBef>
              <a:spcAft>
                <a:spcPts val="0"/>
              </a:spcAft>
              <a:buClr>
                <a:schemeClr val="dk1"/>
              </a:buClr>
              <a:buSzPts val="1100"/>
              <a:buFont typeface="Courier New"/>
              <a:buChar char="o"/>
            </a:pPr>
            <a:r>
              <a:rPr lang="en-US" sz="1100" b="0" i="0" u="none" strike="noStrike" cap="none">
                <a:solidFill>
                  <a:schemeClr val="dk1"/>
                </a:solidFill>
                <a:latin typeface="Arial"/>
                <a:ea typeface="Arial"/>
                <a:cs typeface="Arial"/>
                <a:sym typeface="Arial"/>
              </a:rPr>
              <a:t>Private</a:t>
            </a:r>
            <a:endParaRPr sz="1100" b="0" i="0" u="none" strike="noStrike" cap="none">
              <a:solidFill>
                <a:schemeClr val="dk1"/>
              </a:solidFill>
              <a:latin typeface="Arial"/>
              <a:ea typeface="Arial"/>
              <a:cs typeface="Arial"/>
              <a:sym typeface="Arial"/>
            </a:endParaRPr>
          </a:p>
          <a:p>
            <a:pPr marL="1604010" marR="0" lvl="2" indent="-342265" algn="l" rtl="0">
              <a:lnSpc>
                <a:spcPct val="100000"/>
              </a:lnSpc>
              <a:spcBef>
                <a:spcPts val="710"/>
              </a:spcBef>
              <a:spcAft>
                <a:spcPts val="0"/>
              </a:spcAft>
              <a:buClr>
                <a:schemeClr val="dk1"/>
              </a:buClr>
              <a:buSzPts val="1100"/>
              <a:buFont typeface="Courier New"/>
              <a:buChar char="o"/>
            </a:pPr>
            <a:r>
              <a:rPr lang="en-US" sz="1100" b="0" i="0" u="none" strike="noStrike" cap="none">
                <a:solidFill>
                  <a:schemeClr val="dk1"/>
                </a:solidFill>
                <a:latin typeface="Arial"/>
                <a:ea typeface="Arial"/>
                <a:cs typeface="Arial"/>
                <a:sym typeface="Arial"/>
              </a:rPr>
              <a:t>Other vendors</a:t>
            </a:r>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3"/>
          <p:cNvSpPr txBox="1">
            <a:spLocks noGrp="1"/>
          </p:cNvSpPr>
          <p:nvPr>
            <p:ph type="title"/>
          </p:nvPr>
        </p:nvSpPr>
        <p:spPr>
          <a:xfrm>
            <a:off x="14731" y="197611"/>
            <a:ext cx="1818639" cy="2997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FFFFFF"/>
              </a:buClr>
              <a:buSzPts val="1800"/>
              <a:buFont typeface="Calibri"/>
              <a:buNone/>
            </a:pPr>
            <a:r>
              <a:rPr lang="en-US" sz="1800">
                <a:solidFill>
                  <a:srgbClr val="FFFFFF"/>
                </a:solidFill>
              </a:rPr>
              <a:t>Running Containers</a:t>
            </a:r>
            <a:endParaRPr sz="1800"/>
          </a:p>
        </p:txBody>
      </p:sp>
      <p:sp>
        <p:nvSpPr>
          <p:cNvPr id="175" name="Google Shape;175;p23"/>
          <p:cNvSpPr txBox="1"/>
          <p:nvPr/>
        </p:nvSpPr>
        <p:spPr>
          <a:xfrm>
            <a:off x="228600" y="365125"/>
            <a:ext cx="6628130" cy="4196662"/>
          </a:xfrm>
          <a:prstGeom prst="rect">
            <a:avLst/>
          </a:prstGeom>
          <a:noFill/>
          <a:ln>
            <a:noFill/>
          </a:ln>
        </p:spPr>
        <p:txBody>
          <a:bodyPr spcFirstLastPara="1" wrap="square" lIns="0" tIns="114925" rIns="0" bIns="0" anchor="t" anchorCtr="0">
            <a:spAutoFit/>
          </a:bodyPr>
          <a:lstStyle/>
          <a:p>
            <a:pPr marL="356870" marR="0" lvl="0" indent="-344805" algn="l" rtl="0">
              <a:lnSpc>
                <a:spcPct val="100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The docker `run` command starts a container based on a named Docker Image</a:t>
            </a:r>
            <a:endParaRPr/>
          </a:p>
          <a:p>
            <a:pPr marL="980439" marR="0" lvl="1" indent="-342899" algn="l" rtl="0">
              <a:lnSpc>
                <a:spcPct val="100000"/>
              </a:lnSpc>
              <a:spcBef>
                <a:spcPts val="8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Docker first looks for a local copy of the image</a:t>
            </a:r>
            <a:endParaRPr/>
          </a:p>
          <a:p>
            <a:pPr marL="1261745" marR="0" lvl="0" indent="0" algn="l" rtl="0">
              <a:lnSpc>
                <a:spcPct val="100000"/>
              </a:lnSpc>
              <a:spcBef>
                <a:spcPts val="710"/>
              </a:spcBef>
              <a:spcAft>
                <a:spcPts val="0"/>
              </a:spcAft>
              <a:buNone/>
            </a:pPr>
            <a:r>
              <a:rPr lang="en-US" sz="1600">
                <a:solidFill>
                  <a:schemeClr val="dk1"/>
                </a:solidFill>
                <a:latin typeface="Calibri"/>
                <a:ea typeface="Calibri"/>
                <a:cs typeface="Calibri"/>
                <a:sym typeface="Calibri"/>
              </a:rPr>
              <a:t>o	If it does not exist it is pulled from a Docker Registry</a:t>
            </a:r>
            <a:endParaRPr/>
          </a:p>
          <a:p>
            <a:pPr marL="1885950" marR="0" lvl="0" indent="0" algn="l" rtl="0">
              <a:lnSpc>
                <a:spcPct val="100000"/>
              </a:lnSpc>
              <a:spcBef>
                <a:spcPts val="800"/>
              </a:spcBef>
              <a:spcAft>
                <a:spcPts val="0"/>
              </a:spcAft>
              <a:buNone/>
            </a:pPr>
            <a:r>
              <a:rPr lang="en-US" sz="1600">
                <a:solidFill>
                  <a:schemeClr val="dk1"/>
                </a:solidFill>
                <a:latin typeface="Calibri"/>
                <a:ea typeface="Calibri"/>
                <a:cs typeface="Calibri"/>
                <a:sym typeface="Calibri"/>
              </a:rPr>
              <a:t>o	The default Registry is the Docker Hub Registry</a:t>
            </a:r>
            <a:endParaRPr/>
          </a:p>
          <a:p>
            <a:pPr marL="980439" marR="0" lvl="1" indent="-342899" algn="l" rtl="0">
              <a:lnSpc>
                <a:spcPct val="100000"/>
              </a:lnSpc>
              <a:spcBef>
                <a:spcPts val="890"/>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 new container is created using the file system from the image</a:t>
            </a:r>
            <a:endParaRPr/>
          </a:p>
          <a:p>
            <a:pPr marL="980439" marR="0" lvl="1" indent="-342899" algn="l" rtl="0">
              <a:lnSpc>
                <a:spcPct val="100000"/>
              </a:lnSpc>
              <a:spcBef>
                <a:spcPts val="8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 read-write layer is added to the top of the file system</a:t>
            </a:r>
            <a:endParaRPr/>
          </a:p>
          <a:p>
            <a:pPr marL="980439" marR="0" lvl="1" indent="-342899" algn="l" rtl="0">
              <a:lnSpc>
                <a:spcPct val="100000"/>
              </a:lnSpc>
              <a:spcBef>
                <a:spcPts val="79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 network interface is created and an IP address is assigned from a pool</a:t>
            </a:r>
            <a:endParaRPr/>
          </a:p>
          <a:p>
            <a:pPr marL="980439" marR="0" lvl="1" indent="-342899" algn="l" rtl="0">
              <a:lnSpc>
                <a:spcPct val="100000"/>
              </a:lnSpc>
              <a:spcBef>
                <a:spcPts val="800"/>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Standard input, output, and error streams are connected</a:t>
            </a:r>
            <a:endParaRPr/>
          </a:p>
          <a:p>
            <a:pPr marL="980439" marR="0" lvl="1" indent="-342899" algn="l" rtl="0">
              <a:lnSpc>
                <a:spcPct val="100000"/>
              </a:lnSpc>
              <a:spcBef>
                <a:spcPts val="810"/>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 specified application is executed</a:t>
            </a:r>
            <a:endParaRPr/>
          </a:p>
          <a:p>
            <a:pPr marL="12700" marR="0" lvl="0" indent="0" algn="l" rtl="0">
              <a:lnSpc>
                <a:spcPct val="100000"/>
              </a:lnSpc>
              <a:spcBef>
                <a:spcPts val="705"/>
              </a:spcBef>
              <a:spcAft>
                <a:spcPts val="0"/>
              </a:spcAft>
              <a:buNone/>
            </a:pPr>
            <a:r>
              <a:rPr lang="en-US" sz="1600">
                <a:solidFill>
                  <a:schemeClr val="dk1"/>
                </a:solidFill>
                <a:latin typeface="Calibri"/>
                <a:ea typeface="Calibri"/>
                <a:cs typeface="Calibri"/>
                <a:sym typeface="Calibri"/>
              </a:rPr>
              <a:t>o	Docker container appears as a child of the daemon process, ms are connected</a:t>
            </a:r>
            <a:endParaRPr sz="16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4"/>
          <p:cNvSpPr/>
          <p:nvPr/>
        </p:nvSpPr>
        <p:spPr>
          <a:xfrm>
            <a:off x="6074664" y="1088136"/>
            <a:ext cx="3069335" cy="370941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24"/>
          <p:cNvSpPr txBox="1">
            <a:spLocks noGrp="1"/>
          </p:cNvSpPr>
          <p:nvPr>
            <p:ph type="title"/>
          </p:nvPr>
        </p:nvSpPr>
        <p:spPr>
          <a:xfrm>
            <a:off x="20827" y="197611"/>
            <a:ext cx="2605405" cy="2997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FFFFFF"/>
              </a:buClr>
              <a:buSzPts val="1800"/>
              <a:buFont typeface="Calibri"/>
              <a:buNone/>
            </a:pPr>
            <a:r>
              <a:rPr lang="en-US" sz="1800">
                <a:solidFill>
                  <a:srgbClr val="FFFFFF"/>
                </a:solidFill>
              </a:rPr>
              <a:t>Docker Images &amp; Containers</a:t>
            </a:r>
            <a:endParaRPr sz="1800"/>
          </a:p>
        </p:txBody>
      </p:sp>
      <p:sp>
        <p:nvSpPr>
          <p:cNvPr id="182" name="Google Shape;182;p24"/>
          <p:cNvSpPr txBox="1"/>
          <p:nvPr/>
        </p:nvSpPr>
        <p:spPr>
          <a:xfrm>
            <a:off x="228600" y="212725"/>
            <a:ext cx="5380990" cy="4603824"/>
          </a:xfrm>
          <a:prstGeom prst="rect">
            <a:avLst/>
          </a:prstGeom>
          <a:noFill/>
          <a:ln>
            <a:noFill/>
          </a:ln>
        </p:spPr>
        <p:txBody>
          <a:bodyPr spcFirstLastPara="1" wrap="square" lIns="0" tIns="114300" rIns="0" bIns="0" anchor="t" anchorCtr="0">
            <a:spAutoFit/>
          </a:bodyPr>
          <a:lstStyle/>
          <a:p>
            <a:pPr marL="356870" marR="0" lvl="0" indent="-344805" algn="l" rtl="0">
              <a:lnSpc>
                <a:spcPct val="100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Docker images are read-only templates</a:t>
            </a:r>
            <a:endParaRPr/>
          </a:p>
          <a:p>
            <a:pPr marL="980439" marR="46990" lvl="1" indent="-342899" algn="l" rtl="0">
              <a:lnSpc>
                <a:spcPct val="155625"/>
              </a:lnSpc>
              <a:spcBef>
                <a:spcPts val="21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Foundation is a simplified version of the Linux operating  system</a:t>
            </a:r>
            <a:endParaRPr/>
          </a:p>
          <a:p>
            <a:pPr marL="980439" marR="0" lvl="1" indent="-342899" algn="l" rtl="0">
              <a:lnSpc>
                <a:spcPct val="100000"/>
              </a:lnSpc>
              <a:spcBef>
                <a:spcPts val="3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Changes to foundation, such as application installations</a:t>
            </a:r>
            <a:endParaRPr/>
          </a:p>
          <a:p>
            <a:pPr marL="980439" marR="0" lvl="0" indent="0" algn="l" rtl="0">
              <a:lnSpc>
                <a:spcPct val="100000"/>
              </a:lnSpc>
              <a:spcBef>
                <a:spcPts val="840"/>
              </a:spcBef>
              <a:spcAft>
                <a:spcPts val="0"/>
              </a:spcAft>
              <a:buNone/>
            </a:pPr>
            <a:r>
              <a:rPr lang="en-US" sz="1600">
                <a:solidFill>
                  <a:schemeClr val="dk1"/>
                </a:solidFill>
                <a:latin typeface="Calibri"/>
                <a:ea typeface="Calibri"/>
                <a:cs typeface="Calibri"/>
                <a:sym typeface="Calibri"/>
              </a:rPr>
              <a:t>added to the Image</a:t>
            </a:r>
            <a:endParaRPr/>
          </a:p>
          <a:p>
            <a:pPr marL="980439" marR="0" lvl="1" indent="-342899" algn="l" rtl="0">
              <a:lnSpc>
                <a:spcPct val="100000"/>
              </a:lnSpc>
              <a:spcBef>
                <a:spcPts val="11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Images are the templates or build commands for Docker</a:t>
            </a:r>
            <a:endParaRPr sz="1600" b="0" i="0" u="none" strike="noStrike" cap="none">
              <a:solidFill>
                <a:schemeClr val="dk1"/>
              </a:solidFill>
              <a:latin typeface="Calibri"/>
              <a:ea typeface="Calibri"/>
              <a:cs typeface="Calibri"/>
              <a:sym typeface="Calibri"/>
            </a:endParaRPr>
          </a:p>
          <a:p>
            <a:pPr marL="356870" marR="0" lvl="0" indent="-344805" algn="l" rtl="0">
              <a:lnSpc>
                <a:spcPct val="100000"/>
              </a:lnSpc>
              <a:spcBef>
                <a:spcPts val="805"/>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Docker containers are running environments</a:t>
            </a:r>
            <a:endParaRPr/>
          </a:p>
          <a:p>
            <a:pPr marL="980439" marR="0" lvl="1" indent="-342899" algn="l" rtl="0">
              <a:lnSpc>
                <a:spcPct val="100000"/>
              </a:lnSpc>
              <a:spcBef>
                <a:spcPts val="80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Has OS, environment, program, network, etc.</a:t>
            </a:r>
            <a:endParaRPr/>
          </a:p>
          <a:p>
            <a:pPr marL="980439" marR="0" lvl="1" indent="-342899" algn="l" rtl="0">
              <a:lnSpc>
                <a:spcPct val="100000"/>
              </a:lnSpc>
              <a:spcBef>
                <a:spcPts val="790"/>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Runs (probably one) application</a:t>
            </a:r>
            <a:endParaRPr/>
          </a:p>
          <a:p>
            <a:pPr marL="980439" marR="0" lvl="1" indent="-342899" algn="l" rtl="0">
              <a:lnSpc>
                <a:spcPct val="100000"/>
              </a:lnSpc>
              <a:spcBef>
                <a:spcPts val="810"/>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All required software contained in image</a:t>
            </a:r>
            <a:endParaRPr/>
          </a:p>
          <a:p>
            <a:pPr marL="980439" marR="0" lvl="1" indent="-342899" algn="l" rtl="0">
              <a:lnSpc>
                <a:spcPct val="100000"/>
              </a:lnSpc>
              <a:spcBef>
                <a:spcPts val="800"/>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Can have boot-up configuration</a:t>
            </a:r>
            <a:endParaRPr/>
          </a:p>
          <a:p>
            <a:pPr marL="980439" marR="0" lvl="1" indent="-342899" algn="l" rtl="0">
              <a:lnSpc>
                <a:spcPct val="100000"/>
              </a:lnSpc>
              <a:spcBef>
                <a:spcPts val="795"/>
              </a:spcBef>
              <a:spcAft>
                <a:spcPts val="0"/>
              </a:spcAft>
              <a:buClr>
                <a:schemeClr val="dk1"/>
              </a:buClr>
              <a:buSzPts val="1600"/>
              <a:buFont typeface="Courier New"/>
              <a:buChar char="o"/>
            </a:pPr>
            <a:r>
              <a:rPr lang="en-US" sz="1600" b="0" i="0" u="none" strike="noStrike" cap="none">
                <a:solidFill>
                  <a:schemeClr val="dk1"/>
                </a:solidFill>
                <a:latin typeface="Calibri"/>
                <a:ea typeface="Calibri"/>
                <a:cs typeface="Calibri"/>
                <a:sym typeface="Calibri"/>
              </a:rPr>
              <a:t>They can be run, started, stopped, and deleted</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5"/>
          <p:cNvPicPr preferRelativeResize="0"/>
          <p:nvPr/>
        </p:nvPicPr>
        <p:blipFill rotWithShape="1">
          <a:blip r:embed="rId3">
            <a:alphaModFix/>
          </a:blip>
          <a:srcRect/>
          <a:stretch/>
        </p:blipFill>
        <p:spPr>
          <a:xfrm>
            <a:off x="1981200" y="78581"/>
            <a:ext cx="5318023" cy="48402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6"/>
          <p:cNvPicPr preferRelativeResize="0"/>
          <p:nvPr/>
        </p:nvPicPr>
        <p:blipFill rotWithShape="1">
          <a:blip r:embed="rId3">
            <a:alphaModFix/>
          </a:blip>
          <a:srcRect/>
          <a:stretch/>
        </p:blipFill>
        <p:spPr>
          <a:xfrm>
            <a:off x="2209800" y="593725"/>
            <a:ext cx="3972172" cy="3752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27"/>
          <p:cNvPicPr preferRelativeResize="0"/>
          <p:nvPr/>
        </p:nvPicPr>
        <p:blipFill rotWithShape="1">
          <a:blip r:embed="rId3">
            <a:alphaModFix/>
          </a:blip>
          <a:srcRect/>
          <a:stretch/>
        </p:blipFill>
        <p:spPr>
          <a:xfrm>
            <a:off x="1298575" y="717550"/>
            <a:ext cx="6545263" cy="3714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D839E8-8809-4282-05AB-EE9DD0C26B2B}"/>
              </a:ext>
            </a:extLst>
          </p:cNvPr>
          <p:cNvPicPr>
            <a:picLocks noChangeAspect="1"/>
          </p:cNvPicPr>
          <p:nvPr/>
        </p:nvPicPr>
        <p:blipFill>
          <a:blip r:embed="rId2"/>
          <a:stretch>
            <a:fillRect/>
          </a:stretch>
        </p:blipFill>
        <p:spPr>
          <a:xfrm>
            <a:off x="594328" y="1142797"/>
            <a:ext cx="8549671" cy="2678089"/>
          </a:xfrm>
          <a:prstGeom prst="rect">
            <a:avLst/>
          </a:prstGeom>
        </p:spPr>
      </p:pic>
    </p:spTree>
    <p:extLst>
      <p:ext uri="{BB962C8B-B14F-4D97-AF65-F5344CB8AC3E}">
        <p14:creationId xmlns:p14="http://schemas.microsoft.com/office/powerpoint/2010/main" val="901625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yer4.">
            <a:extLst>
              <a:ext uri="{FF2B5EF4-FFF2-40B4-BE49-F238E27FC236}">
                <a16:creationId xmlns:a16="http://schemas.microsoft.com/office/drawing/2014/main" id="{DF9BA08E-5E3F-C955-83C1-B3B53C5ED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668" y="901813"/>
            <a:ext cx="6692446" cy="3346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5989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Docker Swarm</a:t>
            </a:r>
            <a:endParaRPr/>
          </a:p>
        </p:txBody>
      </p:sp>
      <p:sp>
        <p:nvSpPr>
          <p:cNvPr id="203" name="Google Shape;203;p28"/>
          <p:cNvSpPr txBox="1">
            <a:spLocks noGrp="1"/>
          </p:cNvSpPr>
          <p:nvPr>
            <p:ph idx="1"/>
          </p:nvPr>
        </p:nvSpPr>
        <p:spPr>
          <a:xfrm>
            <a:off x="457200" y="1201634"/>
            <a:ext cx="8229600" cy="1830491"/>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sz="2400"/>
              <a:t>Docker Swarm is an orchestration management tool that runs on Docker applications. It helps end-users in creating and deploying a cluster of Docker nodes.</a:t>
            </a:r>
            <a:endParaRPr/>
          </a:p>
          <a:p>
            <a:pPr marL="342900" lvl="0" indent="-342900" algn="l" rtl="0">
              <a:spcBef>
                <a:spcPts val="372"/>
              </a:spcBef>
              <a:spcAft>
                <a:spcPts val="0"/>
              </a:spcAft>
              <a:buClr>
                <a:schemeClr val="dk1"/>
              </a:buClr>
              <a:buSzPct val="100000"/>
              <a:buChar char="•"/>
            </a:pPr>
            <a:r>
              <a:rPr lang="en-US" sz="2400"/>
              <a:t>Each node of a Docker Swarm is a Docker daemon, and all Docker daemons interact using the Docker API. Each container within the Swarm can be deployed and accessed by nodes of the same cluster. </a:t>
            </a:r>
            <a:br>
              <a:rPr lang="en-US" sz="2400"/>
            </a:br>
            <a:endParaRPr sz="2400"/>
          </a:p>
        </p:txBody>
      </p:sp>
      <p:pic>
        <p:nvPicPr>
          <p:cNvPr id="204" name="Google Shape;204;p28" descr="swarm"/>
          <p:cNvPicPr preferRelativeResize="0"/>
          <p:nvPr/>
        </p:nvPicPr>
        <p:blipFill rotWithShape="1">
          <a:blip r:embed="rId3">
            <a:alphaModFix/>
          </a:blip>
          <a:srcRect/>
          <a:stretch/>
        </p:blipFill>
        <p:spPr>
          <a:xfrm>
            <a:off x="2971800" y="2651125"/>
            <a:ext cx="2952750" cy="26574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33"/>
          <p:cNvPicPr preferRelativeResize="0"/>
          <p:nvPr/>
        </p:nvPicPr>
        <p:blipFill rotWithShape="1">
          <a:blip r:embed="rId3">
            <a:alphaModFix/>
          </a:blip>
          <a:srcRect/>
          <a:stretch/>
        </p:blipFill>
        <p:spPr>
          <a:xfrm>
            <a:off x="979488" y="760413"/>
            <a:ext cx="7183437" cy="3629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7"/>
          <p:cNvSpPr txBox="1">
            <a:spLocks noGrp="1"/>
          </p:cNvSpPr>
          <p:nvPr>
            <p:ph type="title"/>
          </p:nvPr>
        </p:nvSpPr>
        <p:spPr>
          <a:xfrm>
            <a:off x="535940" y="480101"/>
            <a:ext cx="7283450" cy="56682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3600"/>
              <a:buFont typeface="Calibri"/>
              <a:buNone/>
            </a:pPr>
            <a:r>
              <a:rPr lang="en-US" sz="3600"/>
              <a:t>What is a data serialization language?</a:t>
            </a:r>
            <a:endParaRPr sz="3600"/>
          </a:p>
        </p:txBody>
      </p:sp>
      <p:sp>
        <p:nvSpPr>
          <p:cNvPr id="254" name="Google Shape;254;p37"/>
          <p:cNvSpPr txBox="1"/>
          <p:nvPr/>
        </p:nvSpPr>
        <p:spPr>
          <a:xfrm>
            <a:off x="535941" y="1220667"/>
            <a:ext cx="7896859" cy="2931572"/>
          </a:xfrm>
          <a:prstGeom prst="rect">
            <a:avLst/>
          </a:prstGeom>
          <a:noFill/>
          <a:ln>
            <a:noFill/>
          </a:ln>
        </p:spPr>
        <p:txBody>
          <a:bodyPr spcFirstLastPara="1" wrap="square" lIns="0" tIns="12700" rIns="0" bIns="0" anchor="t" anchorCtr="0">
            <a:spAutoFit/>
          </a:bodyPr>
          <a:lstStyle/>
          <a:p>
            <a:pPr marL="194945" marR="5080" lvl="0" indent="-182880" algn="l" rtl="0">
              <a:lnSpc>
                <a:spcPct val="100000"/>
              </a:lnSpc>
              <a:spcBef>
                <a:spcPts val="0"/>
              </a:spcBef>
              <a:spcAft>
                <a:spcPts val="0"/>
              </a:spcAft>
              <a:buClr>
                <a:srgbClr val="92A199"/>
              </a:buClr>
              <a:buSzPts val="2050"/>
              <a:buFont typeface="Calibri"/>
              <a:buChar char="•"/>
            </a:pPr>
            <a:r>
              <a:rPr lang="en-US" sz="2400">
                <a:solidFill>
                  <a:schemeClr val="dk1"/>
                </a:solidFill>
                <a:latin typeface="Calibri"/>
                <a:ea typeface="Calibri"/>
                <a:cs typeface="Calibri"/>
                <a:sym typeface="Calibri"/>
              </a:rPr>
              <a:t>A language used to convert or represent structured data  or objects as a series of characters that can be stored on  a disk.</a:t>
            </a:r>
            <a:endParaRPr/>
          </a:p>
          <a:p>
            <a:pPr marL="195580" marR="0" lvl="0" indent="-182880" algn="l" rtl="0">
              <a:lnSpc>
                <a:spcPct val="100000"/>
              </a:lnSpc>
              <a:spcBef>
                <a:spcPts val="580"/>
              </a:spcBef>
              <a:spcAft>
                <a:spcPts val="0"/>
              </a:spcAft>
              <a:buClr>
                <a:srgbClr val="92A199"/>
              </a:buClr>
              <a:buSzPts val="2050"/>
              <a:buFont typeface="Calibri"/>
              <a:buChar char="•"/>
            </a:pPr>
            <a:r>
              <a:rPr lang="en-US" sz="2400">
                <a:solidFill>
                  <a:schemeClr val="dk1"/>
                </a:solidFill>
                <a:latin typeface="Calibri"/>
                <a:ea typeface="Calibri"/>
                <a:cs typeface="Calibri"/>
                <a:sym typeface="Calibri"/>
              </a:rPr>
              <a:t>Examples:</a:t>
            </a:r>
            <a:endParaRPr sz="2400">
              <a:solidFill>
                <a:schemeClr val="dk1"/>
              </a:solidFill>
              <a:latin typeface="Calibri"/>
              <a:ea typeface="Calibri"/>
              <a:cs typeface="Calibri"/>
              <a:sym typeface="Calibri"/>
            </a:endParaRPr>
          </a:p>
          <a:p>
            <a:pPr marL="469900" marR="0" lvl="1" indent="-183515" algn="l" rtl="0">
              <a:lnSpc>
                <a:spcPct val="100000"/>
              </a:lnSpc>
              <a:spcBef>
                <a:spcPts val="484"/>
              </a:spcBef>
              <a:spcAft>
                <a:spcPts val="0"/>
              </a:spcAft>
              <a:buClr>
                <a:srgbClr val="92A199"/>
              </a:buClr>
              <a:buSzPts val="2040"/>
              <a:buFont typeface="Calibri"/>
              <a:buChar char="•"/>
            </a:pPr>
            <a:r>
              <a:rPr lang="en-US" sz="2400" b="0" i="0" u="none" strike="noStrike" cap="none">
                <a:solidFill>
                  <a:schemeClr val="dk1"/>
                </a:solidFill>
                <a:latin typeface="Calibri"/>
                <a:ea typeface="Calibri"/>
                <a:cs typeface="Calibri"/>
                <a:sym typeface="Calibri"/>
              </a:rPr>
              <a:t>CSV – Comma separated values</a:t>
            </a:r>
            <a:endParaRPr/>
          </a:p>
          <a:p>
            <a:pPr marL="469900" marR="0" lvl="1" indent="-183515" algn="l" rtl="0">
              <a:lnSpc>
                <a:spcPct val="100000"/>
              </a:lnSpc>
              <a:spcBef>
                <a:spcPts val="480"/>
              </a:spcBef>
              <a:spcAft>
                <a:spcPts val="0"/>
              </a:spcAft>
              <a:buClr>
                <a:srgbClr val="92A199"/>
              </a:buClr>
              <a:buSzPts val="2040"/>
              <a:buFont typeface="Calibri"/>
              <a:buChar char="•"/>
            </a:pPr>
            <a:r>
              <a:rPr lang="en-US" sz="2400" b="0" i="0" u="none" strike="noStrike" cap="none">
                <a:solidFill>
                  <a:schemeClr val="dk1"/>
                </a:solidFill>
                <a:latin typeface="Calibri"/>
                <a:ea typeface="Calibri"/>
                <a:cs typeface="Calibri"/>
                <a:sym typeface="Calibri"/>
              </a:rPr>
              <a:t>XML – Extensible markup language</a:t>
            </a:r>
            <a:endParaRPr/>
          </a:p>
          <a:p>
            <a:pPr marL="469900" marR="0" lvl="1" indent="-183515" algn="l" rtl="0">
              <a:lnSpc>
                <a:spcPct val="100000"/>
              </a:lnSpc>
              <a:spcBef>
                <a:spcPts val="480"/>
              </a:spcBef>
              <a:spcAft>
                <a:spcPts val="0"/>
              </a:spcAft>
              <a:buClr>
                <a:srgbClr val="92A199"/>
              </a:buClr>
              <a:buSzPts val="2040"/>
              <a:buFont typeface="Calibri"/>
              <a:buChar char="•"/>
            </a:pPr>
            <a:r>
              <a:rPr lang="en-US" sz="2400" b="0" i="0" u="none" strike="noStrike" cap="none">
                <a:solidFill>
                  <a:schemeClr val="dk1"/>
                </a:solidFill>
                <a:latin typeface="Calibri"/>
                <a:ea typeface="Calibri"/>
                <a:cs typeface="Calibri"/>
                <a:sym typeface="Calibri"/>
              </a:rPr>
              <a:t>JSON – JavaScript object notation</a:t>
            </a:r>
            <a:endParaRPr/>
          </a:p>
          <a:p>
            <a:pPr marL="469900" marR="0" lvl="1" indent="-183515" algn="l" rtl="0">
              <a:lnSpc>
                <a:spcPct val="100000"/>
              </a:lnSpc>
              <a:spcBef>
                <a:spcPts val="480"/>
              </a:spcBef>
              <a:spcAft>
                <a:spcPts val="0"/>
              </a:spcAft>
              <a:buClr>
                <a:srgbClr val="92A199"/>
              </a:buClr>
              <a:buSzPts val="2040"/>
              <a:buFont typeface="Calibri"/>
              <a:buChar char="•"/>
            </a:pPr>
            <a:r>
              <a:rPr lang="en-US" sz="2400" b="0" i="0" u="none" strike="noStrike" cap="none">
                <a:solidFill>
                  <a:schemeClr val="dk1"/>
                </a:solidFill>
                <a:latin typeface="Calibri"/>
                <a:ea typeface="Calibri"/>
                <a:cs typeface="Calibri"/>
                <a:sym typeface="Calibri"/>
              </a:rPr>
              <a:t>YAML – YAML ain’t markup language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8"/>
          <p:cNvSpPr txBox="1">
            <a:spLocks noGrp="1"/>
          </p:cNvSpPr>
          <p:nvPr>
            <p:ph type="title"/>
          </p:nvPr>
        </p:nvSpPr>
        <p:spPr>
          <a:xfrm>
            <a:off x="535941" y="417723"/>
            <a:ext cx="3326129" cy="689291"/>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en-US"/>
              <a:t>What is YAML?</a:t>
            </a:r>
            <a:endParaRPr/>
          </a:p>
        </p:txBody>
      </p:sp>
      <p:sp>
        <p:nvSpPr>
          <p:cNvPr id="260" name="Google Shape;260;p38"/>
          <p:cNvSpPr txBox="1"/>
          <p:nvPr/>
        </p:nvSpPr>
        <p:spPr>
          <a:xfrm>
            <a:off x="535940" y="1220667"/>
            <a:ext cx="8608060" cy="4814138"/>
          </a:xfrm>
          <a:prstGeom prst="rect">
            <a:avLst/>
          </a:prstGeom>
          <a:noFill/>
          <a:ln>
            <a:noFill/>
          </a:ln>
        </p:spPr>
        <p:txBody>
          <a:bodyPr spcFirstLastPara="1" wrap="square" lIns="0" tIns="12700" rIns="0" bIns="0" anchor="t" anchorCtr="0">
            <a:spAutoFit/>
          </a:bodyPr>
          <a:lstStyle/>
          <a:p>
            <a:pPr marL="0" marR="0" lvl="0" indent="-152400" algn="l" rtl="0">
              <a:spcBef>
                <a:spcPts val="0"/>
              </a:spcBef>
              <a:spcAft>
                <a:spcPts val="0"/>
              </a:spcAft>
              <a:buClr>
                <a:srgbClr val="92A199"/>
              </a:buClr>
              <a:buSzPts val="2400"/>
              <a:buFont typeface="Calibri"/>
              <a:buChar char="•"/>
            </a:pPr>
            <a:r>
              <a:rPr lang="en-US" sz="2400">
                <a:solidFill>
                  <a:schemeClr val="dk1"/>
                </a:solidFill>
                <a:latin typeface="Calibri"/>
                <a:ea typeface="Calibri"/>
                <a:cs typeface="Calibri"/>
                <a:sym typeface="Calibri"/>
              </a:rPr>
              <a:t>YAML includes a markup language with important construct, to distinguish data-oriented language with the document markup. The design goals and features of YAML are given below −</a:t>
            </a:r>
            <a:endParaRPr/>
          </a:p>
          <a:p>
            <a:pPr marL="0" marR="0" lvl="0" indent="-152400" algn="l" rtl="0">
              <a:spcBef>
                <a:spcPts val="0"/>
              </a:spcBef>
              <a:spcAft>
                <a:spcPts val="0"/>
              </a:spcAft>
              <a:buClr>
                <a:srgbClr val="92A199"/>
              </a:buClr>
              <a:buSzPts val="2400"/>
              <a:buFont typeface="Calibri"/>
              <a:buChar char="•"/>
            </a:pPr>
            <a:r>
              <a:rPr lang="en-US" sz="2400">
                <a:solidFill>
                  <a:schemeClr val="dk1"/>
                </a:solidFill>
                <a:latin typeface="Calibri"/>
                <a:ea typeface="Calibri"/>
                <a:cs typeface="Calibri"/>
                <a:sym typeface="Calibri"/>
              </a:rPr>
              <a:t>Matches native data structures of agile methodology and its languages such as Perl, Python, PHP, Ruby and JavaScript</a:t>
            </a:r>
            <a:endParaRPr/>
          </a:p>
          <a:p>
            <a:pPr marL="0" marR="0" lvl="0" indent="0" algn="l" rtl="0">
              <a:spcBef>
                <a:spcPts val="0"/>
              </a:spcBef>
              <a:spcAft>
                <a:spcPts val="0"/>
              </a:spcAft>
              <a:buClr>
                <a:srgbClr val="92A199"/>
              </a:buClr>
              <a:buSzPts val="2400"/>
              <a:buFont typeface="Calibri"/>
              <a:buNone/>
            </a:pPr>
            <a:endParaRPr sz="2400">
              <a:solidFill>
                <a:schemeClr val="dk1"/>
              </a:solidFill>
              <a:latin typeface="Calibri"/>
              <a:ea typeface="Calibri"/>
              <a:cs typeface="Calibri"/>
              <a:sym typeface="Calibri"/>
            </a:endParaRPr>
          </a:p>
          <a:p>
            <a:pPr marL="0" marR="0" lvl="0" indent="-152400" algn="l" rtl="0">
              <a:spcBef>
                <a:spcPts val="0"/>
              </a:spcBef>
              <a:spcAft>
                <a:spcPts val="0"/>
              </a:spcAft>
              <a:buClr>
                <a:srgbClr val="92A199"/>
              </a:buClr>
              <a:buSzPts val="2400"/>
              <a:buFont typeface="Calibri"/>
              <a:buChar char="•"/>
            </a:pPr>
            <a:r>
              <a:rPr lang="en-US" sz="2400">
                <a:solidFill>
                  <a:schemeClr val="dk1"/>
                </a:solidFill>
                <a:latin typeface="Calibri"/>
                <a:ea typeface="Calibri"/>
                <a:cs typeface="Calibri"/>
                <a:sym typeface="Calibri"/>
              </a:rPr>
              <a:t>YAML data is portable between programming languages</a:t>
            </a:r>
            <a:endParaRPr/>
          </a:p>
          <a:p>
            <a:pPr marL="0" marR="0" lvl="0" indent="0" algn="l" rtl="0">
              <a:spcBef>
                <a:spcPts val="0"/>
              </a:spcBef>
              <a:spcAft>
                <a:spcPts val="0"/>
              </a:spcAft>
              <a:buClr>
                <a:srgbClr val="92A199"/>
              </a:buClr>
              <a:buSzPts val="2400"/>
              <a:buFont typeface="Calibri"/>
              <a:buNone/>
            </a:pPr>
            <a:endParaRPr sz="2400">
              <a:solidFill>
                <a:schemeClr val="dk1"/>
              </a:solidFill>
              <a:latin typeface="Calibri"/>
              <a:ea typeface="Calibri"/>
              <a:cs typeface="Calibri"/>
              <a:sym typeface="Calibri"/>
            </a:endParaRPr>
          </a:p>
          <a:p>
            <a:pPr marL="0" marR="0" lvl="0" indent="-152400" algn="l" rtl="0">
              <a:spcBef>
                <a:spcPts val="0"/>
              </a:spcBef>
              <a:spcAft>
                <a:spcPts val="0"/>
              </a:spcAft>
              <a:buClr>
                <a:srgbClr val="92A199"/>
              </a:buClr>
              <a:buSzPts val="2400"/>
              <a:buFont typeface="Calibri"/>
              <a:buChar char="•"/>
            </a:pPr>
            <a:r>
              <a:rPr lang="en-US" sz="2400">
                <a:solidFill>
                  <a:schemeClr val="dk1"/>
                </a:solidFill>
                <a:latin typeface="Calibri"/>
                <a:ea typeface="Calibri"/>
                <a:cs typeface="Calibri"/>
                <a:sym typeface="Calibri"/>
              </a:rPr>
              <a:t>Includes data consistent data model</a:t>
            </a:r>
            <a:endParaRPr/>
          </a:p>
          <a:p>
            <a:pPr marL="0" marR="0" lvl="0" indent="0" algn="l" rtl="0">
              <a:spcBef>
                <a:spcPts val="0"/>
              </a:spcBef>
              <a:spcAft>
                <a:spcPts val="0"/>
              </a:spcAft>
              <a:buClr>
                <a:srgbClr val="92A199"/>
              </a:buClr>
              <a:buSzPts val="2400"/>
              <a:buFont typeface="Calibri"/>
              <a:buNone/>
            </a:pPr>
            <a:endParaRPr sz="2400">
              <a:solidFill>
                <a:schemeClr val="dk1"/>
              </a:solidFill>
              <a:latin typeface="Calibri"/>
              <a:ea typeface="Calibri"/>
              <a:cs typeface="Calibri"/>
              <a:sym typeface="Calibri"/>
            </a:endParaRPr>
          </a:p>
          <a:p>
            <a:pPr marL="0" marR="0" lvl="0" indent="-152400" algn="l" rtl="0">
              <a:spcBef>
                <a:spcPts val="0"/>
              </a:spcBef>
              <a:spcAft>
                <a:spcPts val="0"/>
              </a:spcAft>
              <a:buClr>
                <a:srgbClr val="92A199"/>
              </a:buClr>
              <a:buSzPts val="2400"/>
              <a:buFont typeface="Calibri"/>
              <a:buChar char="•"/>
            </a:pPr>
            <a:r>
              <a:rPr lang="en-US" sz="2400">
                <a:solidFill>
                  <a:schemeClr val="dk1"/>
                </a:solidFill>
                <a:latin typeface="Calibri"/>
                <a:ea typeface="Calibri"/>
                <a:cs typeface="Calibri"/>
                <a:sym typeface="Calibri"/>
              </a:rPr>
              <a:t>Easily readable by humans</a:t>
            </a:r>
            <a:endParaRPr/>
          </a:p>
          <a:p>
            <a:pPr marL="0" marR="0" lvl="0" indent="0" algn="l" rtl="0">
              <a:spcBef>
                <a:spcPts val="0"/>
              </a:spcBef>
              <a:spcAft>
                <a:spcPts val="0"/>
              </a:spcAft>
              <a:buClr>
                <a:srgbClr val="92A199"/>
              </a:buClr>
              <a:buSzPts val="2400"/>
              <a:buFont typeface="Calibri"/>
              <a:buNone/>
            </a:pPr>
            <a:endParaRPr sz="2400">
              <a:solidFill>
                <a:schemeClr val="dk1"/>
              </a:solidFill>
              <a:latin typeface="Calibri"/>
              <a:ea typeface="Calibri"/>
              <a:cs typeface="Calibri"/>
              <a:sym typeface="Calibri"/>
            </a:endParaRPr>
          </a:p>
          <a:p>
            <a:pPr marL="0" marR="0" lvl="0" indent="-152400" algn="l" rtl="0">
              <a:spcBef>
                <a:spcPts val="0"/>
              </a:spcBef>
              <a:spcAft>
                <a:spcPts val="0"/>
              </a:spcAft>
              <a:buClr>
                <a:srgbClr val="92A199"/>
              </a:buClr>
              <a:buSzPts val="2400"/>
              <a:buFont typeface="Calibri"/>
              <a:buChar char="•"/>
            </a:pPr>
            <a:r>
              <a:rPr lang="en-US" sz="2400">
                <a:solidFill>
                  <a:schemeClr val="dk1"/>
                </a:solidFill>
                <a:latin typeface="Calibri"/>
                <a:ea typeface="Calibri"/>
                <a:cs typeface="Calibri"/>
                <a:sym typeface="Calibri"/>
              </a:rPr>
              <a:t>Supports one-direction processing</a:t>
            </a:r>
            <a:endParaRPr sz="24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9"/>
          <p:cNvSpPr txBox="1">
            <a:spLocks noGrp="1"/>
          </p:cNvSpPr>
          <p:nvPr>
            <p:ph type="title"/>
          </p:nvPr>
        </p:nvSpPr>
        <p:spPr>
          <a:xfrm>
            <a:off x="535940" y="417723"/>
            <a:ext cx="4173220" cy="689291"/>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en-US"/>
              <a:t>Why YAML if XML?</a:t>
            </a:r>
            <a:endParaRPr/>
          </a:p>
        </p:txBody>
      </p:sp>
      <p:sp>
        <p:nvSpPr>
          <p:cNvPr id="266" name="Google Shape;266;p39"/>
          <p:cNvSpPr txBox="1"/>
          <p:nvPr/>
        </p:nvSpPr>
        <p:spPr>
          <a:xfrm>
            <a:off x="535940" y="1220667"/>
            <a:ext cx="8227060" cy="4229363"/>
          </a:xfrm>
          <a:prstGeom prst="rect">
            <a:avLst/>
          </a:prstGeom>
          <a:noFill/>
          <a:ln>
            <a:noFill/>
          </a:ln>
        </p:spPr>
        <p:txBody>
          <a:bodyPr spcFirstLastPara="1" wrap="square" lIns="0" tIns="12700" rIns="0" bIns="0" anchor="t" anchorCtr="0">
            <a:spAutoFit/>
          </a:bodyPr>
          <a:lstStyle/>
          <a:p>
            <a:pPr marL="0" marR="431800" lvl="0" indent="0" algn="l" rtl="0">
              <a:lnSpc>
                <a:spcPct val="100000"/>
              </a:lnSpc>
              <a:spcBef>
                <a:spcPts val="0"/>
              </a:spcBef>
              <a:spcAft>
                <a:spcPts val="0"/>
              </a:spcAft>
              <a:buClr>
                <a:srgbClr val="92A199"/>
              </a:buClr>
              <a:buSzPts val="2050"/>
              <a:buFont typeface="Calibri"/>
              <a:buChar char="•"/>
            </a:pPr>
            <a:r>
              <a:rPr lang="en-US" sz="2400">
                <a:solidFill>
                  <a:schemeClr val="dk1"/>
                </a:solidFill>
                <a:latin typeface="Calibri"/>
                <a:ea typeface="Calibri"/>
                <a:cs typeface="Calibri"/>
                <a:sym typeface="Calibri"/>
              </a:rPr>
              <a:t>Unlike XML which is not easily readable by humans,  YAML was created to be human-friendly and integrate  easily with modern programming languages.</a:t>
            </a:r>
            <a:endParaRPr/>
          </a:p>
          <a:p>
            <a:pPr marL="0" marR="5080" lvl="0" indent="0" algn="l" rtl="0">
              <a:lnSpc>
                <a:spcPct val="100000"/>
              </a:lnSpc>
              <a:spcBef>
                <a:spcPts val="580"/>
              </a:spcBef>
              <a:spcAft>
                <a:spcPts val="0"/>
              </a:spcAft>
              <a:buClr>
                <a:srgbClr val="92A199"/>
              </a:buClr>
              <a:buSzPts val="2050"/>
              <a:buFont typeface="Calibri"/>
              <a:buChar char="•"/>
            </a:pPr>
            <a:r>
              <a:rPr lang="en-US" sz="2400">
                <a:solidFill>
                  <a:schemeClr val="dk1"/>
                </a:solidFill>
                <a:latin typeface="Calibri"/>
                <a:ea typeface="Calibri"/>
                <a:cs typeface="Calibri"/>
                <a:sym typeface="Calibri"/>
              </a:rPr>
              <a:t>Unlike with XML, YAML was intended to simplify the  viewing and understanding of config files, log files, object  persistence, and messaging, to allow the programmer to  spend more time programming and less time formatting  data.</a:t>
            </a:r>
            <a:endParaRPr/>
          </a:p>
          <a:p>
            <a:pPr marL="0" marR="5080" lvl="0" indent="0" algn="l" rtl="0">
              <a:lnSpc>
                <a:spcPct val="100000"/>
              </a:lnSpc>
              <a:spcBef>
                <a:spcPts val="580"/>
              </a:spcBef>
              <a:spcAft>
                <a:spcPts val="0"/>
              </a:spcAft>
              <a:buClr>
                <a:srgbClr val="92A199"/>
              </a:buClr>
              <a:buSzPts val="2050"/>
              <a:buFont typeface="Calibri"/>
              <a:buChar char="•"/>
            </a:pPr>
            <a:r>
              <a:rPr lang="en-US" sz="2400">
                <a:solidFill>
                  <a:schemeClr val="dk1"/>
                </a:solidFill>
                <a:latin typeface="Calibri"/>
                <a:ea typeface="Calibri"/>
                <a:cs typeface="Calibri"/>
                <a:sym typeface="Calibri"/>
              </a:rPr>
              <a:t>JSON is only readable whereas YAML can be readable as well as editable. JSON is a subset of YAML so that YAML parsers can be able to parse JSON. YAML doesn't use any extra delimiters, so it is more light-weight than XML and JSON.</a:t>
            </a:r>
            <a:endParaRPr sz="24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0"/>
          <p:cNvSpPr txBox="1">
            <a:spLocks noGrp="1"/>
          </p:cNvSpPr>
          <p:nvPr>
            <p:ph type="title"/>
          </p:nvPr>
        </p:nvSpPr>
        <p:spPr>
          <a:xfrm>
            <a:off x="535941" y="417723"/>
            <a:ext cx="4340225" cy="689291"/>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en-US"/>
              <a:t>YAML Design Goals</a:t>
            </a:r>
            <a:endParaRPr/>
          </a:p>
        </p:txBody>
      </p:sp>
      <p:sp>
        <p:nvSpPr>
          <p:cNvPr id="272" name="Google Shape;272;p40"/>
          <p:cNvSpPr txBox="1"/>
          <p:nvPr/>
        </p:nvSpPr>
        <p:spPr>
          <a:xfrm>
            <a:off x="535940" y="1220667"/>
            <a:ext cx="7802880" cy="3785652"/>
          </a:xfrm>
          <a:prstGeom prst="rect">
            <a:avLst/>
          </a:prstGeom>
          <a:noFill/>
          <a:ln>
            <a:noFill/>
          </a:ln>
        </p:spPr>
        <p:txBody>
          <a:bodyPr spcFirstLastPara="1" wrap="square" lIns="0" tIns="12700" rIns="0" bIns="0" anchor="t" anchorCtr="0">
            <a:spAutoFit/>
          </a:bodyPr>
          <a:lstStyle/>
          <a:p>
            <a:pPr marL="0" marR="0" lvl="0" indent="0" algn="l" rtl="0">
              <a:spcBef>
                <a:spcPts val="0"/>
              </a:spcBef>
              <a:spcAft>
                <a:spcPts val="0"/>
              </a:spcAft>
              <a:buClr>
                <a:srgbClr val="92A199"/>
              </a:buClr>
              <a:buSzPts val="2050"/>
              <a:buFont typeface="Calibri"/>
              <a:buChar char="•"/>
            </a:pPr>
            <a:r>
              <a:rPr lang="en-US" sz="2400">
                <a:solidFill>
                  <a:schemeClr val="dk1"/>
                </a:solidFill>
                <a:latin typeface="Calibri"/>
                <a:ea typeface="Calibri"/>
                <a:cs typeface="Calibri"/>
                <a:sym typeface="Calibri"/>
              </a:rPr>
              <a:t>As stated in the YAML official specification, the design</a:t>
            </a:r>
            <a:endParaRPr/>
          </a:p>
          <a:p>
            <a:pPr marL="0" marR="0" lvl="0" indent="0" algn="l" rtl="0">
              <a:spcBef>
                <a:spcPts val="5"/>
              </a:spcBef>
              <a:spcAft>
                <a:spcPts val="0"/>
              </a:spcAft>
              <a:buClr>
                <a:srgbClr val="92A199"/>
              </a:buClr>
              <a:buSzPts val="2050"/>
              <a:buFont typeface="Calibri"/>
              <a:buChar char="•"/>
            </a:pPr>
            <a:r>
              <a:rPr lang="en-US" sz="2400">
                <a:solidFill>
                  <a:schemeClr val="dk1"/>
                </a:solidFill>
                <a:latin typeface="Calibri"/>
                <a:ea typeface="Calibri"/>
                <a:cs typeface="Calibri"/>
                <a:sym typeface="Calibri"/>
              </a:rPr>
              <a:t>goals for YAML in decreasing priority are:</a:t>
            </a:r>
            <a:endParaRPr/>
          </a:p>
          <a:p>
            <a:pPr marL="0" marR="0" lvl="1" indent="0" algn="l" rtl="0">
              <a:spcBef>
                <a:spcPts val="484"/>
              </a:spcBef>
              <a:spcAft>
                <a:spcPts val="0"/>
              </a:spcAft>
              <a:buClr>
                <a:srgbClr val="92A199"/>
              </a:buClr>
              <a:buSzPts val="2050"/>
              <a:buFont typeface="Calibri"/>
              <a:buChar char="•"/>
            </a:pPr>
            <a:r>
              <a:rPr lang="en-US" sz="2400" b="0" i="0" u="none" strike="noStrike" cap="none">
                <a:solidFill>
                  <a:schemeClr val="dk1"/>
                </a:solidFill>
                <a:latin typeface="Calibri"/>
                <a:ea typeface="Calibri"/>
                <a:cs typeface="Calibri"/>
                <a:sym typeface="Calibri"/>
              </a:rPr>
              <a:t>YAML is easily readable by humans</a:t>
            </a:r>
            <a:endParaRPr/>
          </a:p>
          <a:p>
            <a:pPr marL="0" marR="0" lvl="1" indent="0" algn="l" rtl="0">
              <a:spcBef>
                <a:spcPts val="480"/>
              </a:spcBef>
              <a:spcAft>
                <a:spcPts val="0"/>
              </a:spcAft>
              <a:buClr>
                <a:srgbClr val="92A199"/>
              </a:buClr>
              <a:buSzPts val="2050"/>
              <a:buFont typeface="Calibri"/>
              <a:buChar char="•"/>
            </a:pPr>
            <a:r>
              <a:rPr lang="en-US" sz="2400" b="0" i="0" u="none" strike="noStrike" cap="none">
                <a:solidFill>
                  <a:schemeClr val="dk1"/>
                </a:solidFill>
                <a:latin typeface="Calibri"/>
                <a:ea typeface="Calibri"/>
                <a:cs typeface="Calibri"/>
                <a:sym typeface="Calibri"/>
              </a:rPr>
              <a:t>YAML data is portable between programming languages</a:t>
            </a:r>
            <a:endParaRPr/>
          </a:p>
          <a:p>
            <a:pPr marL="0" marR="0" lvl="1" indent="0" algn="l" rtl="0">
              <a:spcBef>
                <a:spcPts val="480"/>
              </a:spcBef>
              <a:spcAft>
                <a:spcPts val="0"/>
              </a:spcAft>
              <a:buClr>
                <a:srgbClr val="92A199"/>
              </a:buClr>
              <a:buSzPts val="2050"/>
              <a:buFont typeface="Calibri"/>
              <a:buChar char="•"/>
            </a:pPr>
            <a:r>
              <a:rPr lang="en-US" sz="2400" b="0" i="0" u="none" strike="noStrike" cap="none">
                <a:solidFill>
                  <a:schemeClr val="dk1"/>
                </a:solidFill>
                <a:latin typeface="Calibri"/>
                <a:ea typeface="Calibri"/>
                <a:cs typeface="Calibri"/>
                <a:sym typeface="Calibri"/>
              </a:rPr>
              <a:t>YAML matches the native data structures of agile languages.</a:t>
            </a:r>
            <a:endParaRPr/>
          </a:p>
          <a:p>
            <a:pPr marL="0" marR="0" lvl="1" indent="0" algn="l" rtl="0">
              <a:spcBef>
                <a:spcPts val="480"/>
              </a:spcBef>
              <a:spcAft>
                <a:spcPts val="0"/>
              </a:spcAft>
              <a:buClr>
                <a:srgbClr val="92A199"/>
              </a:buClr>
              <a:buSzPts val="2050"/>
              <a:buFont typeface="Calibri"/>
              <a:buChar char="•"/>
            </a:pPr>
            <a:r>
              <a:rPr lang="en-US" sz="2400" b="0" i="0" u="none" strike="noStrike" cap="none">
                <a:solidFill>
                  <a:schemeClr val="dk1"/>
                </a:solidFill>
                <a:latin typeface="Calibri"/>
                <a:ea typeface="Calibri"/>
                <a:cs typeface="Calibri"/>
                <a:sym typeface="Calibri"/>
              </a:rPr>
              <a:t>YAML has a consistent model to support generic tools.</a:t>
            </a:r>
            <a:endParaRPr/>
          </a:p>
          <a:p>
            <a:pPr marL="0" marR="0" lvl="1" indent="0" algn="l" rtl="0">
              <a:spcBef>
                <a:spcPts val="480"/>
              </a:spcBef>
              <a:spcAft>
                <a:spcPts val="0"/>
              </a:spcAft>
              <a:buClr>
                <a:srgbClr val="92A199"/>
              </a:buClr>
              <a:buSzPts val="2050"/>
              <a:buFont typeface="Calibri"/>
              <a:buChar char="•"/>
            </a:pPr>
            <a:r>
              <a:rPr lang="en-US" sz="2400" b="0" i="0" u="none" strike="noStrike" cap="none">
                <a:solidFill>
                  <a:schemeClr val="dk1"/>
                </a:solidFill>
                <a:latin typeface="Calibri"/>
                <a:ea typeface="Calibri"/>
                <a:cs typeface="Calibri"/>
                <a:sym typeface="Calibri"/>
              </a:rPr>
              <a:t>YAML supports one-pass processing.</a:t>
            </a:r>
            <a:endParaRPr/>
          </a:p>
          <a:p>
            <a:pPr marL="0" marR="0" lvl="1" indent="0" algn="l" rtl="0">
              <a:spcBef>
                <a:spcPts val="480"/>
              </a:spcBef>
              <a:spcAft>
                <a:spcPts val="0"/>
              </a:spcAft>
              <a:buClr>
                <a:srgbClr val="92A199"/>
              </a:buClr>
              <a:buSzPts val="2050"/>
              <a:buFont typeface="Calibri"/>
              <a:buChar char="•"/>
            </a:pPr>
            <a:r>
              <a:rPr lang="en-US" sz="2400" b="0" i="0" u="none" strike="noStrike" cap="none">
                <a:solidFill>
                  <a:schemeClr val="dk1"/>
                </a:solidFill>
                <a:latin typeface="Calibri"/>
                <a:ea typeface="Calibri"/>
                <a:cs typeface="Calibri"/>
                <a:sym typeface="Calibri"/>
              </a:rPr>
              <a:t>YAML is expressive and extensible.</a:t>
            </a:r>
            <a:endParaRPr/>
          </a:p>
          <a:p>
            <a:pPr marL="0" marR="0" lvl="1" indent="0" algn="l" rtl="0">
              <a:spcBef>
                <a:spcPts val="480"/>
              </a:spcBef>
              <a:spcAft>
                <a:spcPts val="0"/>
              </a:spcAft>
              <a:buClr>
                <a:srgbClr val="92A199"/>
              </a:buClr>
              <a:buSzPts val="2050"/>
              <a:buFont typeface="Calibri"/>
              <a:buChar char="•"/>
            </a:pPr>
            <a:r>
              <a:rPr lang="en-US" sz="2400" b="0" i="0" u="none" strike="noStrike" cap="none">
                <a:solidFill>
                  <a:schemeClr val="dk1"/>
                </a:solidFill>
                <a:latin typeface="Calibri"/>
                <a:ea typeface="Calibri"/>
                <a:cs typeface="Calibri"/>
                <a:sym typeface="Calibri"/>
              </a:rPr>
              <a:t>YAML is easy to implement and use.</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41"/>
          <p:cNvPicPr preferRelativeResize="0"/>
          <p:nvPr/>
        </p:nvPicPr>
        <p:blipFill rotWithShape="1">
          <a:blip r:embed="rId3">
            <a:alphaModFix/>
          </a:blip>
          <a:srcRect/>
          <a:stretch/>
        </p:blipFill>
        <p:spPr>
          <a:xfrm>
            <a:off x="1722438" y="231775"/>
            <a:ext cx="5697537" cy="46863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TotalTime>
  <Words>923</Words>
  <Application>Microsoft Office PowerPoint</Application>
  <PresentationFormat>Custom</PresentationFormat>
  <Paragraphs>112</Paragraphs>
  <Slides>27</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Calibri</vt:lpstr>
      <vt:lpstr>Courier New</vt:lpstr>
      <vt:lpstr>Times New Roman</vt:lpstr>
      <vt:lpstr>Office Theme</vt:lpstr>
      <vt:lpstr>DEVOPS ENGINEERING</vt:lpstr>
      <vt:lpstr>PowerPoint Presentation</vt:lpstr>
      <vt:lpstr>PowerPoint Presentation</vt:lpstr>
      <vt:lpstr>DEVOPS---DOCKER</vt:lpstr>
      <vt:lpstr>Docker containers</vt:lpstr>
      <vt:lpstr>PowerPoint Presentation</vt:lpstr>
      <vt:lpstr>PowerPoint Presentation</vt:lpstr>
      <vt:lpstr>Docker</vt:lpstr>
      <vt:lpstr>Docker</vt:lpstr>
      <vt:lpstr>Docker was originally a Linux application</vt:lpstr>
      <vt:lpstr>Docker runs natively on OS X</vt:lpstr>
      <vt:lpstr>PowerPoint Presentation</vt:lpstr>
      <vt:lpstr>Docker Architecture</vt:lpstr>
      <vt:lpstr>Running Containers</vt:lpstr>
      <vt:lpstr>Docker Images &amp; Containers</vt:lpstr>
      <vt:lpstr>PowerPoint Presentation</vt:lpstr>
      <vt:lpstr>PowerPoint Presentation</vt:lpstr>
      <vt:lpstr>PowerPoint Presentation</vt:lpstr>
      <vt:lpstr>PowerPoint Presentation</vt:lpstr>
      <vt:lpstr>PowerPoint Presentation</vt:lpstr>
      <vt:lpstr>Docker Swarm</vt:lpstr>
      <vt:lpstr>PowerPoint Presentation</vt:lpstr>
      <vt:lpstr>What is a data serialization language?</vt:lpstr>
      <vt:lpstr>What is YAML?</vt:lpstr>
      <vt:lpstr>Why YAML if XML?</vt:lpstr>
      <vt:lpstr>YAML Design Goals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Ravi Payal</cp:lastModifiedBy>
  <cp:revision>6</cp:revision>
  <dcterms:modified xsi:type="dcterms:W3CDTF">2025-02-24T05:34:45Z</dcterms:modified>
</cp:coreProperties>
</file>